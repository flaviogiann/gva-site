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Présentation de la maquette du site GVA : 12 frames, desktop 1440 et mobile 390.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Palette et échelle typographique. Inter, quatre couleurs, accent rouge suisse utilisé avec parcimonie.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Boutons primaire, secondaire et ghost en trois états ; pastille hotspot ; champs de formulaire.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hero occupe 100vh, la vidéo est scrubbée par le scroll sur 2000 px. Quatre paliers documentés.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Première frame : navbar transparente en overlay, titre, indicateur de scroll, barre de progression.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 du scrub : les CTA entrent en fade + translateY, puis le sticky se libère.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Spécification technique du scrub : distance, sticky, easing linéaire, point de bascule à 2000 px.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hotspots numérotés sur le modèle low-poly, halo pulsant, contrôles rotation et zoom sous le modèle.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 sur le point 3 : panneau latéral de 420 px, modèle décalé de 120 px vers la gauche.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Variantes mobile 390 px : hero scrubbé sur 1200 px, aside converti en bottom sheet à 70%.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Tableau départs/arrivées : onglets, recherche, polling 30 s avec flash de la ligne modifiée.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cartes d'accès et la grille tarifaire parking, avec entrée en stagger.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Carrousel de quatre cartes ; sur mobile, scroll-snap horizontal.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Footer : quatre colonnes, newsletter, réseaux sociaux, mentions légales. En mobile, accordéons.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 qui est livré et ce qui manque : photos et rendu 3D à produire.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1143000"/>
            <a:ext cx="171831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36" kern="0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MAQUETTE SITE WEB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333500" y="3325267"/>
            <a:ext cx="16089630" cy="2426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046"/>
              </a:lnSpc>
              <a:buNone/>
            </a:pPr>
            <a:r>
              <a:rPr lang="en-US" sz="9900" b="1" spc="-39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GVA </a:t>
            </a:r>
            <a:pPr algn="l" indent="0" marL="0">
              <a:lnSpc>
                <a:spcPct val="83046"/>
              </a:lnSpc>
              <a:buNone/>
            </a:pPr>
            <a:r>
              <a:rPr lang="en-US" sz="9900" b="1" spc="-396" kern="0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</a:t>
            </a:r>
            <a:pPr algn="l" indent="0" marL="0">
              <a:lnSpc>
                <a:spcPct val="83046"/>
              </a:lnSpc>
              <a:buNone/>
            </a:pPr>
            <a:r>
              <a:rPr lang="en-US" sz="9900" b="1" spc="-39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Genève Aéroport</a:t>
            </a:r>
            <a:endParaRPr lang="en-US" sz="9900" dirty="0"/>
          </a:p>
        </p:txBody>
      </p:sp>
      <p:sp>
        <p:nvSpPr>
          <p:cNvPr id="4" name="Text 2"/>
          <p:cNvSpPr/>
          <p:nvPr/>
        </p:nvSpPr>
        <p:spPr>
          <a:xfrm>
            <a:off x="1333500" y="6056858"/>
            <a:ext cx="1079182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2400" dirty="0">
                <a:solidFill>
                  <a:srgbClr val="A9BB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 1440 px et variante mobile 390 px pour chaque section. Grille 12 colonnes, gouttière 24 px, coins 12–16 px.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33500" y="8848725"/>
            <a:ext cx="117737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frames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3044279" y="8848725"/>
            <a:ext cx="255863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system inclus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5979914" y="8848725"/>
            <a:ext cx="297495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Annotations d'interaction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1152525"/>
            <a:ext cx="6421889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spc="-162" kern="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 artistique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1068050" y="1047750"/>
            <a:ext cx="5886450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Moderne, aérien, épuré. Beaucoup de blanc, grandes typographies sans-serif, ombres très légères.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1333500" y="2543175"/>
            <a:ext cx="3676650" cy="1924050"/>
          </a:xfrm>
          <a:prstGeom prst="roundRect">
            <a:avLst>
              <a:gd name="adj" fmla="val 7921"/>
            </a:avLst>
          </a:prstGeom>
          <a:solidFill>
            <a:srgbClr val="F7F8FA"/>
          </a:solidFill>
          <a:ln w="9525">
            <a:solidFill>
              <a:srgbClr val="DD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4638675"/>
            <a:ext cx="404431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Blanc cassé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33500" y="4933950"/>
            <a:ext cx="4044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#F7F8FA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314950" y="2543175"/>
            <a:ext cx="3676650" cy="19050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/>
        </p:spPr>
      </p:sp>
      <p:sp>
        <p:nvSpPr>
          <p:cNvPr id="8" name="Text 6"/>
          <p:cNvSpPr/>
          <p:nvPr/>
        </p:nvSpPr>
        <p:spPr>
          <a:xfrm>
            <a:off x="5314950" y="4619625"/>
            <a:ext cx="404431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Bleu nuit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5314950" y="4914900"/>
            <a:ext cx="4044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#0B1F3A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9296400" y="2543175"/>
            <a:ext cx="3676650" cy="1905000"/>
          </a:xfrm>
          <a:prstGeom prst="roundRect">
            <a:avLst>
              <a:gd name="adj" fmla="val 8000"/>
            </a:avLst>
          </a:prstGeom>
          <a:solidFill>
            <a:srgbClr val="E4002B"/>
          </a:solidFill>
          <a:ln/>
        </p:spPr>
      </p:sp>
      <p:sp>
        <p:nvSpPr>
          <p:cNvPr id="11" name="Text 9"/>
          <p:cNvSpPr/>
          <p:nvPr/>
        </p:nvSpPr>
        <p:spPr>
          <a:xfrm>
            <a:off x="9296400" y="4619625"/>
            <a:ext cx="404431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296400" y="4914900"/>
            <a:ext cx="4044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#E4002B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13277850" y="2543175"/>
            <a:ext cx="3676650" cy="1905000"/>
          </a:xfrm>
          <a:prstGeom prst="roundRect">
            <a:avLst>
              <a:gd name="adj" fmla="val 8000"/>
            </a:avLst>
          </a:prstGeom>
          <a:solidFill>
            <a:srgbClr val="5A6472"/>
          </a:solidFill>
          <a:ln/>
        </p:spPr>
      </p:sp>
      <p:sp>
        <p:nvSpPr>
          <p:cNvPr id="14" name="Text 12"/>
          <p:cNvSpPr/>
          <p:nvPr/>
        </p:nvSpPr>
        <p:spPr>
          <a:xfrm>
            <a:off x="13277850" y="4619625"/>
            <a:ext cx="404431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Gris texte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3277850" y="4914900"/>
            <a:ext cx="4044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#5A6472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333500" y="5791200"/>
            <a:ext cx="108966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98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ÉCHELLE TYPOGRAPHIQUE — INTER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333500" y="6210300"/>
            <a:ext cx="108966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598"/>
              </a:lnSpc>
              <a:buNone/>
            </a:pPr>
            <a:r>
              <a:rPr lang="en-US" sz="6300" b="1" spc="-220" kern="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Bienvenue</a:t>
            </a:r>
            <a:endParaRPr lang="en-US" sz="6300" dirty="0"/>
          </a:p>
        </p:txBody>
      </p:sp>
      <p:sp>
        <p:nvSpPr>
          <p:cNvPr id="18" name="Text 16"/>
          <p:cNvSpPr/>
          <p:nvPr/>
        </p:nvSpPr>
        <p:spPr>
          <a:xfrm>
            <a:off x="1333500" y="7181850"/>
            <a:ext cx="108966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66" kern="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Explorez l'aéroport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1333500" y="7829550"/>
            <a:ext cx="108966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Paragraphe courant, interligne 1.6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2001500" y="6762750"/>
            <a:ext cx="5448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98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LETTRAGE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2001500" y="7200900"/>
            <a:ext cx="54483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66" kern="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GVA </a:t>
            </a:r>
            <a:pPr algn="l" indent="0" marL="0">
              <a:buNone/>
            </a:pPr>
            <a:r>
              <a:rPr lang="en-US" sz="3300" b="1" spc="-66" kern="0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</a:t>
            </a:r>
            <a:pPr algn="l" indent="0" marL="0">
              <a:buNone/>
            </a:pPr>
            <a:r>
              <a:rPr lang="en-US" sz="3300" b="1" spc="-66" kern="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Genève Aéroport</a:t>
            </a:r>
            <a:endParaRPr lang="en-US" sz="3300" dirty="0"/>
          </a:p>
        </p:txBody>
      </p:sp>
      <p:sp>
        <p:nvSpPr>
          <p:cNvPr id="22" name="Text 20"/>
          <p:cNvSpPr/>
          <p:nvPr/>
        </p:nvSpPr>
        <p:spPr>
          <a:xfrm>
            <a:off x="12001500" y="7867650"/>
            <a:ext cx="5448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Lettrage neutre, aucun logo officiel utilisé.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1047750"/>
            <a:ext cx="17183100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spc="-162" kern="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system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333500" y="2362200"/>
            <a:ext cx="95973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98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BOUTONS — DÉFAUT / HOVER / ACTIF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1333500" y="2838450"/>
            <a:ext cx="2781300" cy="666750"/>
          </a:xfrm>
          <a:prstGeom prst="roundRect">
            <a:avLst>
              <a:gd name="adj" fmla="val 20000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1291781" y="2838450"/>
            <a:ext cx="2864739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 vol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4305300" y="2838450"/>
            <a:ext cx="2781300" cy="666750"/>
          </a:xfrm>
          <a:prstGeom prst="roundRect">
            <a:avLst>
              <a:gd name="adj" fmla="val 20000"/>
            </a:avLst>
          </a:prstGeom>
          <a:solidFill>
            <a:srgbClr val="12305A"/>
          </a:solidFill>
          <a:ln/>
          <a:effectLst>
            <a:outerShdw sx="100000" sy="100000" kx="0" ky="0" algn="bl" rotWithShape="0" blurRad="228600" dist="76200" dir="5400000">
              <a:srgbClr val="0B1F3A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263580" y="2838450"/>
            <a:ext cx="2864739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 vol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7277100" y="2838450"/>
            <a:ext cx="2781300" cy="666750"/>
          </a:xfrm>
          <a:prstGeom prst="roundRect">
            <a:avLst>
              <a:gd name="adj" fmla="val 20000"/>
            </a:avLst>
          </a:prstGeom>
          <a:solidFill>
            <a:srgbClr val="E4002B"/>
          </a:solidFill>
          <a:ln/>
        </p:spPr>
      </p:sp>
      <p:sp>
        <p:nvSpPr>
          <p:cNvPr id="9" name="Text 7"/>
          <p:cNvSpPr/>
          <p:nvPr/>
        </p:nvSpPr>
        <p:spPr>
          <a:xfrm>
            <a:off x="7235380" y="2838450"/>
            <a:ext cx="2864739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 vol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333500" y="3695700"/>
            <a:ext cx="2781300" cy="704850"/>
          </a:xfrm>
          <a:prstGeom prst="roundRect">
            <a:avLst>
              <a:gd name="adj" fmla="val 18919"/>
            </a:avLst>
          </a:prstGeom>
          <a:ln w="19050">
            <a:solidFill>
              <a:srgbClr val="0B1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10830" y="3714750"/>
            <a:ext cx="2826639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Voir le plan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4305300" y="3695700"/>
            <a:ext cx="2781300" cy="704850"/>
          </a:xfrm>
          <a:prstGeom prst="roundRect">
            <a:avLst>
              <a:gd name="adj" fmla="val 18919"/>
            </a:avLst>
          </a:prstGeom>
          <a:solidFill>
            <a:srgbClr val="0B1F3A">
              <a:alpha val="6000"/>
            </a:srgbClr>
          </a:solidFill>
          <a:ln w="19050">
            <a:solidFill>
              <a:srgbClr val="0B1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82630" y="3714750"/>
            <a:ext cx="2826639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Voir le plan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7277100" y="3695700"/>
            <a:ext cx="2781300" cy="704850"/>
          </a:xfrm>
          <a:prstGeom prst="roundRect">
            <a:avLst>
              <a:gd name="adj" fmla="val 18919"/>
            </a:avLst>
          </a:prstGeom>
          <a:solidFill>
            <a:srgbClr val="E4002B">
              <a:alpha val="8000"/>
            </a:srgbClr>
          </a:solidFill>
          <a:ln w="19050">
            <a:solidFill>
              <a:srgbClr val="E400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54430" y="3714750"/>
            <a:ext cx="2826639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Voir le plan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91781" y="4591050"/>
            <a:ext cx="2864739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savoir plus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4305300" y="4591050"/>
            <a:ext cx="2781300" cy="666750"/>
          </a:xfrm>
          <a:prstGeom prst="roundRect">
            <a:avLst>
              <a:gd name="adj" fmla="val 20000"/>
            </a:avLst>
          </a:prstGeom>
          <a:solidFill>
            <a:srgbClr val="5A6472">
              <a:alpha val="1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263580" y="4591050"/>
            <a:ext cx="2864739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savoir plus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7235380" y="4591050"/>
            <a:ext cx="2864739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u="sng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savoir plus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0668000" y="2362200"/>
            <a:ext cx="69151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98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PASTILLE HOTSPOT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0668000" y="2838450"/>
            <a:ext cx="6286500" cy="1666875"/>
          </a:xfrm>
          <a:prstGeom prst="roundRect">
            <a:avLst>
              <a:gd name="adj" fmla="val 9143"/>
            </a:avLst>
          </a:prstGeom>
          <a:solidFill>
            <a:srgbClr val="0B1F3A"/>
          </a:solidFill>
          <a:ln/>
        </p:spPr>
      </p:sp>
      <p:sp>
        <p:nvSpPr>
          <p:cNvPr id="22" name="Shape 20"/>
          <p:cNvSpPr/>
          <p:nvPr/>
        </p:nvSpPr>
        <p:spPr>
          <a:xfrm>
            <a:off x="11049000" y="3228975"/>
            <a:ext cx="533400" cy="5334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11010900" y="3228975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050786" y="3895725"/>
            <a:ext cx="60587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défaut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2001500" y="3181350"/>
            <a:ext cx="628650" cy="62865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1963400" y="3181350"/>
            <a:ext cx="7048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12763500" y="3257550"/>
            <a:ext cx="1224855" cy="47625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12915900" y="3371850"/>
            <a:ext cx="996255" cy="2857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Duty Free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2756654" y="3943350"/>
            <a:ext cx="55274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4407455" y="3228975"/>
            <a:ext cx="533400" cy="533400"/>
          </a:xfrm>
          <a:prstGeom prst="ellipse">
            <a:avLst/>
          </a:prstGeom>
          <a:solidFill>
            <a:srgbClr val="E4002B"/>
          </a:solidFill>
          <a:ln/>
        </p:spPr>
      </p:sp>
      <p:sp>
        <p:nvSpPr>
          <p:cNvPr id="31" name="Text 29"/>
          <p:cNvSpPr/>
          <p:nvPr/>
        </p:nvSpPr>
        <p:spPr>
          <a:xfrm>
            <a:off x="14369355" y="3228975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4499431" y="3895725"/>
            <a:ext cx="42564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actif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0668000" y="4848225"/>
            <a:ext cx="69151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98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CHAMPS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0668000" y="5324475"/>
            <a:ext cx="1968401" cy="704850"/>
          </a:xfrm>
          <a:prstGeom prst="roundRect">
            <a:avLst>
              <a:gd name="adj" fmla="val 18919"/>
            </a:avLst>
          </a:prstGeom>
          <a:ln w="19050">
            <a:solidFill>
              <a:srgbClr val="DDE1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877550" y="5343525"/>
            <a:ext cx="162550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LX 1234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2826901" y="5324475"/>
            <a:ext cx="1968550" cy="704850"/>
          </a:xfrm>
          <a:prstGeom prst="roundRect">
            <a:avLst>
              <a:gd name="adj" fmla="val 18919"/>
            </a:avLst>
          </a:prstGeom>
          <a:ln w="19050">
            <a:solidFill>
              <a:srgbClr val="0B1F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036451" y="5343525"/>
            <a:ext cx="162565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LX 1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4985950" y="5324475"/>
            <a:ext cx="1968550" cy="704850"/>
          </a:xfrm>
          <a:prstGeom prst="roundRect">
            <a:avLst>
              <a:gd name="adj" fmla="val 18919"/>
            </a:avLst>
          </a:prstGeom>
          <a:ln w="19050">
            <a:solidFill>
              <a:srgbClr val="E4002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5195500" y="5343525"/>
            <a:ext cx="162565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LX 99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1047750"/>
            <a:ext cx="1025976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12" kern="0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333500" y="1552575"/>
            <a:ext cx="10259764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spc="-16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 vidéo pilotée par le scroll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0871835" y="1447800"/>
            <a:ext cx="6082665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A9BB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page reste fixe, le scroll fait avancer la vidéo image par image. À la fin du scrub, le scroll redevient normal.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1333500" y="2867025"/>
            <a:ext cx="3705225" cy="4248150"/>
          </a:xfrm>
          <a:prstGeom prst="roundRect">
            <a:avLst>
              <a:gd name="adj" fmla="val 3599"/>
            </a:avLst>
          </a:prstGeom>
          <a:solidFill>
            <a:srgbClr val="1B3355"/>
          </a:solidFill>
          <a:ln/>
        </p:spPr>
      </p:sp>
      <p:sp>
        <p:nvSpPr>
          <p:cNvPr id="6" name="Text 4"/>
          <p:cNvSpPr/>
          <p:nvPr/>
        </p:nvSpPr>
        <p:spPr>
          <a:xfrm>
            <a:off x="1600200" y="6229350"/>
            <a:ext cx="348900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spc="-5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Bienvenue à Genève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1600200" y="6810375"/>
            <a:ext cx="3171825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2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600200" y="6810375"/>
            <a:ext cx="63401" cy="38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7267575"/>
            <a:ext cx="407574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Hero-00% · pistes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305425" y="2867025"/>
            <a:ext cx="3705225" cy="4248150"/>
          </a:xfrm>
          <a:prstGeom prst="roundRect">
            <a:avLst>
              <a:gd name="adj" fmla="val 3599"/>
            </a:avLst>
          </a:prstGeom>
          <a:solidFill>
            <a:srgbClr val="1B3355"/>
          </a:solidFill>
          <a:ln/>
        </p:spPr>
      </p:sp>
      <p:sp>
        <p:nvSpPr>
          <p:cNvPr id="11" name="Text 9"/>
          <p:cNvSpPr/>
          <p:nvPr/>
        </p:nvSpPr>
        <p:spPr>
          <a:xfrm>
            <a:off x="5572125" y="5857875"/>
            <a:ext cx="326698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spc="-5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Votre porte vers le monde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5572125" y="6810375"/>
            <a:ext cx="3171825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572125" y="6810375"/>
            <a:ext cx="1046559" cy="38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5305425" y="7267575"/>
            <a:ext cx="407574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Hero-33% · terminal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277350" y="2867025"/>
            <a:ext cx="3705225" cy="4248150"/>
          </a:xfrm>
          <a:prstGeom prst="roundRect">
            <a:avLst>
              <a:gd name="adj" fmla="val 3599"/>
            </a:avLst>
          </a:prstGeom>
          <a:solidFill>
            <a:srgbClr val="1B3355"/>
          </a:solidFill>
          <a:ln/>
        </p:spPr>
      </p:sp>
      <p:sp>
        <p:nvSpPr>
          <p:cNvPr id="16" name="Text 14"/>
          <p:cNvSpPr/>
          <p:nvPr/>
        </p:nvSpPr>
        <p:spPr>
          <a:xfrm>
            <a:off x="9544050" y="6229350"/>
            <a:ext cx="348900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spc="-5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 destinations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9544050" y="6810375"/>
            <a:ext cx="3171825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544050" y="6810375"/>
            <a:ext cx="2093268" cy="38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9277350" y="7267575"/>
            <a:ext cx="407574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Hero-66% · tarmac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3249275" y="2867025"/>
            <a:ext cx="3705225" cy="4248150"/>
          </a:xfrm>
          <a:prstGeom prst="roundRect">
            <a:avLst>
              <a:gd name="adj" fmla="val 3599"/>
            </a:avLst>
          </a:prstGeom>
          <a:solidFill>
            <a:srgbClr val="1B3355"/>
          </a:solidFill>
          <a:ln/>
        </p:spPr>
      </p:sp>
      <p:sp>
        <p:nvSpPr>
          <p:cNvPr id="21" name="Text 19"/>
          <p:cNvSpPr/>
          <p:nvPr/>
        </p:nvSpPr>
        <p:spPr>
          <a:xfrm>
            <a:off x="13515975" y="5857875"/>
            <a:ext cx="326698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spc="-5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Prêt pour l'embarquement</a:t>
            </a:r>
            <a:endParaRPr lang="en-US" sz="2550" dirty="0"/>
          </a:p>
        </p:txBody>
      </p:sp>
      <p:sp>
        <p:nvSpPr>
          <p:cNvPr id="22" name="Shape 20"/>
          <p:cNvSpPr/>
          <p:nvPr/>
        </p:nvSpPr>
        <p:spPr>
          <a:xfrm>
            <a:off x="13515975" y="6810375"/>
            <a:ext cx="3171825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3515975" y="6810375"/>
            <a:ext cx="3171825" cy="38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13249275" y="7267575"/>
            <a:ext cx="407574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Hero-100% · décollage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333500" y="8067675"/>
            <a:ext cx="28575" cy="777180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26" name="Text 24"/>
          <p:cNvSpPr/>
          <p:nvPr/>
        </p:nvSpPr>
        <p:spPr>
          <a:xfrm>
            <a:off x="1590675" y="8067675"/>
            <a:ext cx="15832455" cy="81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111"/>
              </a:lnSpc>
              <a:buNone/>
            </a:pPr>
            <a:r>
              <a:rPr lang="en-US" sz="1800" dirty="0">
                <a:solidFill>
                  <a:srgbClr val="A9BB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scroll 0→2000px → currentTime mappé linéairement · titre en cross-fade 240 ms à chaque palier · indicateur « Scrollez » fade-out dès 40 px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9EB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2952006"/>
            <a:ext cx="44005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 01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3485406"/>
            <a:ext cx="440055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304"/>
              </a:lnSpc>
              <a:buNone/>
            </a:pPr>
            <a:r>
              <a:rPr lang="en-US" sz="4500" b="1" spc="-135" kern="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Hero-00%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52500" y="4352181"/>
            <a:ext cx="4120515" cy="1622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4"/>
              </a:lnSpc>
              <a:buNone/>
            </a:pPr>
            <a:r>
              <a:rPr lang="en-US" sz="1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Navbar transparente en overlay : lettrage à gauche, cinq liens au centre, sélecteur FR/EN et bouton « Mon vol » à droite.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52500" y="6203603"/>
            <a:ext cx="28575" cy="1131391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6" name="Text 4"/>
          <p:cNvSpPr/>
          <p:nvPr/>
        </p:nvSpPr>
        <p:spPr>
          <a:xfrm>
            <a:off x="1171575" y="6203603"/>
            <a:ext cx="3901440" cy="11694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8400"/>
              </a:lnSpc>
              <a:buNone/>
            </a:pPr>
            <a:r>
              <a:rPr lang="en-US" sz="16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indicateur « Scrollez pour découvrir » visible uniquement ici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486400" y="1714500"/>
            <a:ext cx="10972800" cy="6858000"/>
          </a:xfrm>
          <a:prstGeom prst="roundRect">
            <a:avLst>
              <a:gd name="adj" fmla="val 2222"/>
            </a:avLst>
          </a:prstGeom>
          <a:ln/>
          <a:effectLst>
            <a:outerShdw sx="100000" sy="100000" kx="0" ky="0" algn="bl" rotWithShape="0" blurRad="381000" dist="114300" dir="5400000">
              <a:srgbClr val="0B1F3A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0" y="1714500"/>
            <a:ext cx="10972800" cy="6858000"/>
          </a:xfrm>
          <a:prstGeom prst="rect">
            <a:avLst/>
          </a:prstGeom>
          <a:solidFill>
            <a:srgbClr val="C9D2DE"/>
          </a:solidFill>
          <a:ln/>
        </p:spPr>
      </p:sp>
      <p:sp>
        <p:nvSpPr>
          <p:cNvPr id="9" name="Text 7"/>
          <p:cNvSpPr/>
          <p:nvPr/>
        </p:nvSpPr>
        <p:spPr>
          <a:xfrm>
            <a:off x="5321808" y="1714500"/>
            <a:ext cx="11301984" cy="689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660" spc="92" kern="0" dirty="0">
                <a:solidFill>
                  <a:srgbClr val="7A84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PHOTO — VUE AÉRIENNE DES PISTES · FRAME VIDÉO 00%</a:t>
            </a:r>
            <a:endParaRPr lang="en-US" sz="660" dirty="0"/>
          </a:p>
        </p:txBody>
      </p:sp>
      <p:sp>
        <p:nvSpPr>
          <p:cNvPr id="10" name="Shape 8"/>
          <p:cNvSpPr/>
          <p:nvPr/>
        </p:nvSpPr>
        <p:spPr>
          <a:xfrm>
            <a:off x="5486400" y="1714500"/>
            <a:ext cx="10972800" cy="6858000"/>
          </a:xfrm>
          <a:prstGeom prst="rect">
            <a:avLst/>
          </a:prstGeom>
          <a:gradFill rotWithShape="1">
            <a:gsLst>
              <a:gs pos="0">
                <a:srgbClr val="0B1F3A">
                  <a:alpha val="55000"/>
                </a:srgbClr>
              </a:gs>
              <a:gs pos="40000">
                <a:srgbClr val="0B1F3A">
                  <a:alpha val="15000"/>
                </a:srgbClr>
              </a:gs>
              <a:gs pos="100000">
                <a:srgbClr val="0B1F3A">
                  <a:alpha val="65000"/>
                </a:srgbClr>
              </a:gs>
            </a:gsLst>
            <a:lin ang="5400000" scaled="0"/>
          </a:gradFill>
          <a:ln/>
        </p:spPr>
      </p:sp>
      <p:sp>
        <p:nvSpPr>
          <p:cNvPr id="11" name="Text 9"/>
          <p:cNvSpPr/>
          <p:nvPr/>
        </p:nvSpPr>
        <p:spPr>
          <a:xfrm>
            <a:off x="6217920" y="1973580"/>
            <a:ext cx="1665530" cy="190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GVA </a:t>
            </a:r>
            <a:pPr algn="l" indent="0" marL="0">
              <a:buNone/>
            </a:pPr>
            <a:r>
              <a:rPr lang="en-US" sz="1020" b="1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</a:t>
            </a:r>
            <a:pPr algn="l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Genève Aéroport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9171861" y="1985010"/>
            <a:ext cx="29229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662279" y="1985010"/>
            <a:ext cx="51458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374988" y="1985010"/>
            <a:ext cx="914757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Accès &amp; Parking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87864" y="1985010"/>
            <a:ext cx="584597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Boutiques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2270581" y="1985010"/>
            <a:ext cx="826057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Infos pratiques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4460259" y="1988820"/>
            <a:ext cx="218480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</a:t>
            </a:r>
            <a:endParaRPr lang="en-US" sz="840" dirty="0"/>
          </a:p>
        </p:txBody>
      </p:sp>
      <p:sp>
        <p:nvSpPr>
          <p:cNvPr id="18" name="Text 16"/>
          <p:cNvSpPr/>
          <p:nvPr/>
        </p:nvSpPr>
        <p:spPr>
          <a:xfrm>
            <a:off x="14602539" y="1988820"/>
            <a:ext cx="313373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EN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14992113" y="1882140"/>
            <a:ext cx="735568" cy="335280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5159753" y="1882140"/>
            <a:ext cx="476488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 vol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17920" y="6179820"/>
            <a:ext cx="6750915" cy="1600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spc="134" kern="0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GENÈVE</a:t>
            </a:r>
            <a:endParaRPr lang="en-US" sz="840" dirty="0"/>
          </a:p>
        </p:txBody>
      </p:sp>
      <p:sp>
        <p:nvSpPr>
          <p:cNvPr id="22" name="Text 20"/>
          <p:cNvSpPr/>
          <p:nvPr/>
        </p:nvSpPr>
        <p:spPr>
          <a:xfrm>
            <a:off x="6217920" y="6454140"/>
            <a:ext cx="6750915" cy="708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275"/>
              </a:lnSpc>
              <a:buNone/>
            </a:pPr>
            <a:r>
              <a:rPr lang="en-US" sz="5280" b="1" spc="-18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Bienvenue à Genève</a:t>
            </a:r>
            <a:endParaRPr lang="en-US" sz="5280" dirty="0"/>
          </a:p>
        </p:txBody>
      </p:sp>
      <p:sp>
        <p:nvSpPr>
          <p:cNvPr id="23" name="Text 21"/>
          <p:cNvSpPr/>
          <p:nvPr/>
        </p:nvSpPr>
        <p:spPr>
          <a:xfrm>
            <a:off x="10083998" y="7467600"/>
            <a:ext cx="195536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0" spc="10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SCROLLEZ POUR DÉCOUVRIR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10930891" y="7673340"/>
            <a:ext cx="160019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615"/>
              </a:lnSpc>
              <a:buNone/>
            </a:pPr>
            <a:r>
              <a:rPr lang="en-US" sz="13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20" dirty="0"/>
          </a:p>
        </p:txBody>
      </p:sp>
      <p:sp>
        <p:nvSpPr>
          <p:cNvPr id="25" name="Shape 23"/>
          <p:cNvSpPr/>
          <p:nvPr/>
        </p:nvSpPr>
        <p:spPr>
          <a:xfrm>
            <a:off x="6217920" y="8183880"/>
            <a:ext cx="9509761" cy="22860"/>
          </a:xfrm>
          <a:prstGeom prst="roundRect">
            <a:avLst>
              <a:gd name="adj" fmla="val 50001"/>
            </a:avLst>
          </a:prstGeom>
          <a:solidFill>
            <a:srgbClr val="FFFFFF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217920" y="8183880"/>
            <a:ext cx="190143" cy="22860"/>
          </a:xfrm>
          <a:prstGeom prst="roundRect">
            <a:avLst>
              <a:gd name="adj" fmla="val 50001"/>
            </a:avLst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9EB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3150096"/>
            <a:ext cx="44005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 04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3683496"/>
            <a:ext cx="440055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304"/>
              </a:lnSpc>
              <a:buNone/>
            </a:pPr>
            <a:r>
              <a:rPr lang="en-US" sz="4500" b="1" spc="-135" kern="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Hero-100%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52500" y="4550271"/>
            <a:ext cx="4120515" cy="12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4"/>
              </a:lnSpc>
              <a:buNone/>
            </a:pPr>
            <a:r>
              <a:rPr lang="en-US" sz="1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 de progression pleine. Les deux appels à l'action apparaissent une fois la vidéo terminée.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52500" y="6005513"/>
            <a:ext cx="28575" cy="1131391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6" name="Text 4"/>
          <p:cNvSpPr/>
          <p:nvPr/>
        </p:nvSpPr>
        <p:spPr>
          <a:xfrm>
            <a:off x="1171575" y="6005513"/>
            <a:ext cx="3901440" cy="11694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8400"/>
              </a:lnSpc>
              <a:buNone/>
            </a:pPr>
            <a:r>
              <a:rPr lang="en-US" sz="16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 du scrub → unpin → CTA fade + translateY 16 px, 320 ms ease-out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486400" y="1714500"/>
            <a:ext cx="10972800" cy="6858000"/>
          </a:xfrm>
          <a:prstGeom prst="roundRect">
            <a:avLst>
              <a:gd name="adj" fmla="val 2222"/>
            </a:avLst>
          </a:prstGeom>
          <a:ln/>
          <a:effectLst>
            <a:outerShdw sx="100000" sy="100000" kx="0" ky="0" algn="bl" rotWithShape="0" blurRad="381000" dist="114300" dir="5400000">
              <a:srgbClr val="0B1F3A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0" y="1714500"/>
            <a:ext cx="10972800" cy="6858000"/>
          </a:xfrm>
          <a:prstGeom prst="rect">
            <a:avLst/>
          </a:prstGeom>
          <a:solidFill>
            <a:srgbClr val="AEBACD"/>
          </a:solidFill>
          <a:ln/>
        </p:spPr>
      </p:sp>
      <p:sp>
        <p:nvSpPr>
          <p:cNvPr id="9" name="Text 7"/>
          <p:cNvSpPr/>
          <p:nvPr/>
        </p:nvSpPr>
        <p:spPr>
          <a:xfrm>
            <a:off x="5321808" y="1714500"/>
            <a:ext cx="11301984" cy="689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660" spc="92" kern="0" dirty="0">
                <a:solidFill>
                  <a:srgbClr val="7A84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PHOTO — AVION AU DÉCOLLAGE · FRAME VIDÉO 100%</a:t>
            </a:r>
            <a:endParaRPr lang="en-US" sz="660" dirty="0"/>
          </a:p>
        </p:txBody>
      </p:sp>
      <p:sp>
        <p:nvSpPr>
          <p:cNvPr id="10" name="Shape 8"/>
          <p:cNvSpPr/>
          <p:nvPr/>
        </p:nvSpPr>
        <p:spPr>
          <a:xfrm>
            <a:off x="5486400" y="1714500"/>
            <a:ext cx="10972800" cy="6858000"/>
          </a:xfrm>
          <a:prstGeom prst="rect">
            <a:avLst/>
          </a:prstGeom>
          <a:gradFill rotWithShape="1">
            <a:gsLst>
              <a:gs pos="0">
                <a:srgbClr val="0B1F3A">
                  <a:alpha val="50000"/>
                </a:srgbClr>
              </a:gs>
              <a:gs pos="40000">
                <a:srgbClr val="0B1F3A">
                  <a:alpha val="12000"/>
                </a:srgbClr>
              </a:gs>
              <a:gs pos="100000">
                <a:srgbClr val="0B1F3A">
                  <a:alpha val="70000"/>
                </a:srgbClr>
              </a:gs>
            </a:gsLst>
            <a:lin ang="5400000" scaled="0"/>
          </a:gradFill>
          <a:ln/>
        </p:spPr>
      </p:sp>
      <p:sp>
        <p:nvSpPr>
          <p:cNvPr id="11" name="Text 9"/>
          <p:cNvSpPr/>
          <p:nvPr/>
        </p:nvSpPr>
        <p:spPr>
          <a:xfrm>
            <a:off x="6217920" y="1973580"/>
            <a:ext cx="1665530" cy="190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GVA </a:t>
            </a:r>
            <a:pPr algn="l" indent="0" marL="0">
              <a:buNone/>
            </a:pPr>
            <a:r>
              <a:rPr lang="en-US" sz="1020" b="1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</a:t>
            </a:r>
            <a:pPr algn="l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Genève Aéroport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9171861" y="1985010"/>
            <a:ext cx="29229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662279" y="1985010"/>
            <a:ext cx="51458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374988" y="1985010"/>
            <a:ext cx="914757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Accès &amp; Parking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87864" y="1985010"/>
            <a:ext cx="584597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Boutiques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2270581" y="1985010"/>
            <a:ext cx="826057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Infos pratiques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4460259" y="1988820"/>
            <a:ext cx="218480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</a:t>
            </a:r>
            <a:endParaRPr lang="en-US" sz="840" dirty="0"/>
          </a:p>
        </p:txBody>
      </p:sp>
      <p:sp>
        <p:nvSpPr>
          <p:cNvPr id="18" name="Text 16"/>
          <p:cNvSpPr/>
          <p:nvPr/>
        </p:nvSpPr>
        <p:spPr>
          <a:xfrm>
            <a:off x="14602539" y="1988820"/>
            <a:ext cx="313373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EN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14992113" y="1882140"/>
            <a:ext cx="735568" cy="335280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5159753" y="1882140"/>
            <a:ext cx="476488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 vol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17920" y="5829300"/>
            <a:ext cx="8531829" cy="708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275"/>
              </a:lnSpc>
              <a:buNone/>
            </a:pPr>
            <a:r>
              <a:rPr lang="en-US" sz="5280" b="1" spc="-18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Prêt pour l'embarquement</a:t>
            </a:r>
            <a:endParaRPr lang="en-US" sz="5280" dirty="0"/>
          </a:p>
        </p:txBody>
      </p:sp>
      <p:sp>
        <p:nvSpPr>
          <p:cNvPr id="22" name="Shape 20"/>
          <p:cNvSpPr/>
          <p:nvPr/>
        </p:nvSpPr>
        <p:spPr>
          <a:xfrm>
            <a:off x="6217920" y="6713220"/>
            <a:ext cx="1202650" cy="396240"/>
          </a:xfrm>
          <a:prstGeom prst="roundRect">
            <a:avLst>
              <a:gd name="adj" fmla="val 23077"/>
            </a:avLst>
          </a:prstGeom>
          <a:solidFill>
            <a:srgbClr val="E4002B"/>
          </a:solidFill>
          <a:ln/>
        </p:spPr>
      </p:sp>
      <p:sp>
        <p:nvSpPr>
          <p:cNvPr id="23" name="Text 21"/>
          <p:cNvSpPr/>
          <p:nvPr/>
        </p:nvSpPr>
        <p:spPr>
          <a:xfrm>
            <a:off x="6416040" y="6713220"/>
            <a:ext cx="882610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Suivre mon vol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7527250" y="6713220"/>
            <a:ext cx="1583889" cy="411480"/>
          </a:xfrm>
          <a:prstGeom prst="roundRect">
            <a:avLst>
              <a:gd name="adj" fmla="val 22222"/>
            </a:avLst>
          </a:prstGeom>
          <a:ln w="762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32990" y="6720840"/>
            <a:ext cx="1248609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Préparer mon voyage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6217920" y="8183880"/>
            <a:ext cx="9509761" cy="22860"/>
          </a:xfrm>
          <a:prstGeom prst="roundRect">
            <a:avLst>
              <a:gd name="adj" fmla="val 50001"/>
            </a:avLst>
          </a:prstGeom>
          <a:solidFill>
            <a:srgbClr val="FFFFFF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217920" y="8183880"/>
            <a:ext cx="9509761" cy="22860"/>
          </a:xfrm>
          <a:prstGeom prst="roundRect">
            <a:avLst>
              <a:gd name="adj" fmla="val 50001"/>
            </a:avLst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1047750"/>
            <a:ext cx="17183100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spc="-162" kern="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— Scroll vidéo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333500" y="2362200"/>
            <a:ext cx="33528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de scrub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610100" y="2362200"/>
            <a:ext cx="131901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2000 px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333500" y="2876550"/>
            <a:ext cx="33528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610100" y="2876550"/>
            <a:ext cx="266881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sticky, top 0, 100vh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33500" y="3390900"/>
            <a:ext cx="33528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Hauteur du spacer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610100" y="3390900"/>
            <a:ext cx="224267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100vh + 2000 px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33500" y="3905250"/>
            <a:ext cx="33528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Easing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610100" y="3905250"/>
            <a:ext cx="101024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linéaire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33500" y="4419600"/>
            <a:ext cx="33528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Bascule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610100" y="4419600"/>
            <a:ext cx="363863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scrollY = 2000 px → unpin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33500" y="4933950"/>
            <a:ext cx="2961927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437757" y="4933950"/>
            <a:ext cx="4258785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MP4 keyframe-dense ou 120 WebP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334500" y="2362200"/>
            <a:ext cx="7620000" cy="2133600"/>
          </a:xfrm>
          <a:prstGeom prst="roundRect">
            <a:avLst>
              <a:gd name="adj" fmla="val 7143"/>
            </a:avLst>
          </a:prstGeom>
          <a:solidFill>
            <a:srgbClr val="F7F8FA"/>
          </a:solidFill>
          <a:ln w="9525">
            <a:solidFill>
              <a:srgbClr val="DDE1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25025" y="2714625"/>
            <a:ext cx="752284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AXE DE SCROLL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9725025" y="3305175"/>
            <a:ext cx="6838950" cy="952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B1F3A">
                  <a:alpha val="100000"/>
                </a:srgbClr>
              </a:gs>
              <a:gs pos="72000">
                <a:srgbClr val="0B1F3A">
                  <a:alpha val="100000"/>
                </a:srgbClr>
              </a:gs>
              <a:gs pos="72000">
                <a:srgbClr val="DDE1E8">
                  <a:alpha val="100000"/>
                </a:srgbClr>
              </a:gs>
              <a:gs pos="100000">
                <a:srgbClr val="DDE1E8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18" name="Text 16"/>
          <p:cNvSpPr/>
          <p:nvPr/>
        </p:nvSpPr>
        <p:spPr>
          <a:xfrm>
            <a:off x="9725025" y="3571875"/>
            <a:ext cx="1307157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435"/>
              </a:lnSpc>
              <a:buNone/>
            </a:pPr>
            <a:r>
              <a:rPr lang="en-US" sz="150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pinné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955982" y="3571875"/>
            <a:ext cx="1307157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435"/>
              </a:lnSpc>
              <a:buNone/>
            </a:pPr>
            <a:r>
              <a:rPr lang="en-US" sz="150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660 33%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186940" y="3571875"/>
            <a:ext cx="1307157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435"/>
              </a:lnSpc>
              <a:buNone/>
            </a:pPr>
            <a:r>
              <a:rPr lang="en-US" sz="150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1320 66%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417897" y="3571875"/>
            <a:ext cx="1307157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435"/>
              </a:lnSpc>
              <a:buNone/>
            </a:pPr>
            <a:r>
              <a:rPr lang="en-US" sz="1500" b="1" dirty="0">
                <a:solidFill>
                  <a:srgbClr val="E40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2000 bascule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648855" y="3571875"/>
            <a:ext cx="199132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435"/>
              </a:lnSpc>
              <a:buNone/>
            </a:pPr>
            <a:r>
              <a:rPr lang="en-US" sz="150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&gt;2000 scroll normal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334500" y="4838700"/>
            <a:ext cx="7620000" cy="1803946"/>
          </a:xfrm>
          <a:prstGeom prst="roundRect">
            <a:avLst>
              <a:gd name="adj" fmla="val 8448"/>
            </a:avLst>
          </a:prstGeom>
          <a:solidFill>
            <a:srgbClr val="0B1F3A"/>
          </a:solidFill>
          <a:ln/>
        </p:spPr>
      </p:sp>
      <p:sp>
        <p:nvSpPr>
          <p:cNvPr id="24" name="Text 22"/>
          <p:cNvSpPr/>
          <p:nvPr/>
        </p:nvSpPr>
        <p:spPr>
          <a:xfrm>
            <a:off x="9677400" y="5143500"/>
            <a:ext cx="7162800" cy="12324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7200"/>
              </a:lnSpc>
              <a:buNone/>
            </a:pPr>
            <a:r>
              <a:rPr lang="en-US" sz="1650" dirty="0">
                <a:solidFill>
                  <a:srgbClr val="FFFFFF"/>
                </a:solidFill>
                <a:highlight>
                  <a:srgbClr val="0B1F3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onScroll (rAF) → video.currentTime = progress × duration palier → titre cross-fade 240 ms ease-out progress = 1 → unpin → scroll natif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A">
                  <a:alpha val="100000"/>
                </a:srgbClr>
              </a:gs>
              <a:gs pos="55000">
                <a:srgbClr val="12305A">
                  <a:alpha val="100000"/>
                </a:srgbClr>
              </a:gs>
              <a:gs pos="100000">
                <a:srgbClr val="0B1F3A">
                  <a:alpha val="100000"/>
                </a:srgbClr>
              </a:gs>
            </a:gsLst>
            <a:lin ang="42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2275731"/>
            <a:ext cx="5448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12" kern="0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3000" y="2837706"/>
            <a:ext cx="5101590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11"/>
              </a:lnSpc>
              <a:buNone/>
            </a:pPr>
            <a:r>
              <a:rPr lang="en-US" sz="4800" b="1" spc="-14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Explorez l'aéroport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143000" y="4384328"/>
            <a:ext cx="5101590" cy="12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4"/>
              </a:lnSpc>
              <a:buNone/>
            </a:pPr>
            <a:r>
              <a:rPr lang="en-US" sz="1950" dirty="0">
                <a:solidFill>
                  <a:srgbClr val="A9BB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Rendu isométrique low-poly du terminal, de la jetée, de la tour de contrôle et des parkings. Six points d'intérêt cliquables.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143000" y="5839569"/>
            <a:ext cx="5448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3DE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Enregistrement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6220569"/>
            <a:ext cx="5448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3DE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Contrôle de sécurité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6601569"/>
            <a:ext cx="5448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3DE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Duty Free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6982569"/>
            <a:ext cx="5448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3DE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Salons VIP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7363569"/>
            <a:ext cx="5448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3DE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Portes d'embarquement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7744569"/>
            <a:ext cx="5448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3DE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Parkings &amp; accès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705600" y="1714500"/>
            <a:ext cx="10439400" cy="5924550"/>
          </a:xfrm>
          <a:prstGeom prst="roundRect">
            <a:avLst>
              <a:gd name="adj" fmla="val 2894"/>
            </a:avLst>
          </a:prstGeom>
          <a:solidFill>
            <a:srgbClr val="12294A"/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50797" y="4345335"/>
            <a:ext cx="406732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67200"/>
              </a:lnSpc>
              <a:buNone/>
            </a:pPr>
            <a:r>
              <a:rPr lang="en-US" sz="1650" spc="165" kern="0" dirty="0">
                <a:solidFill>
                  <a:srgbClr val="7E9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RENDU 3D ISOMÉTRIQUE LOW-POLY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8929539" y="4743450"/>
            <a:ext cx="617111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67200"/>
              </a:lnSpc>
              <a:buNone/>
            </a:pPr>
            <a:r>
              <a:rPr lang="en-US" sz="1650" spc="165" kern="0" dirty="0">
                <a:solidFill>
                  <a:srgbClr val="7E9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 · JETÉE · TOUR DE CONTRÔLE · TARMAC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965430" y="5149155"/>
            <a:ext cx="533400" cy="53340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927330" y="5149155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841111" y="3968055"/>
            <a:ext cx="533400" cy="53340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803011" y="3968055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1508432" y="4912965"/>
            <a:ext cx="628650" cy="62865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1470332" y="4912965"/>
            <a:ext cx="7048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12270432" y="4989165"/>
            <a:ext cx="1224855" cy="47625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12422832" y="5103465"/>
            <a:ext cx="996255" cy="2857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Duty Free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3384113" y="3377505"/>
            <a:ext cx="533400" cy="53340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3346013" y="3377505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4842927" y="4794796"/>
            <a:ext cx="533400" cy="53340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4804827" y="4794796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007525" y="6448425"/>
            <a:ext cx="533400" cy="53340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14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969425" y="6448425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168854" y="7943850"/>
            <a:ext cx="628650" cy="628650"/>
          </a:xfrm>
          <a:prstGeom prst="roundRect">
            <a:avLst>
              <a:gd name="adj" fmla="val 21212"/>
            </a:avLst>
          </a:prstGeom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0279" y="7953375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9949904" y="7943850"/>
            <a:ext cx="628650" cy="628650"/>
          </a:xfrm>
          <a:prstGeom prst="roundRect">
            <a:avLst>
              <a:gd name="adj" fmla="val 21212"/>
            </a:avLst>
          </a:prstGeom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921329" y="7953375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↻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10730954" y="7943850"/>
            <a:ext cx="628650" cy="628650"/>
          </a:xfrm>
          <a:prstGeom prst="roundRect">
            <a:avLst>
              <a:gd name="adj" fmla="val 21212"/>
            </a:avLst>
          </a:prstGeom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702379" y="7953375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endParaRPr lang="en-US" sz="2250" dirty="0"/>
          </a:p>
        </p:txBody>
      </p:sp>
      <p:sp>
        <p:nvSpPr>
          <p:cNvPr id="35" name="Shape 33"/>
          <p:cNvSpPr/>
          <p:nvPr/>
        </p:nvSpPr>
        <p:spPr>
          <a:xfrm>
            <a:off x="11512004" y="7943850"/>
            <a:ext cx="628650" cy="628650"/>
          </a:xfrm>
          <a:prstGeom prst="roundRect">
            <a:avLst>
              <a:gd name="adj" fmla="val 21212"/>
            </a:avLst>
          </a:prstGeom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483429" y="7953375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250" dirty="0"/>
          </a:p>
        </p:txBody>
      </p:sp>
      <p:sp>
        <p:nvSpPr>
          <p:cNvPr id="37" name="Shape 35"/>
          <p:cNvSpPr/>
          <p:nvPr/>
        </p:nvSpPr>
        <p:spPr>
          <a:xfrm>
            <a:off x="12293054" y="7953375"/>
            <a:ext cx="2388543" cy="609600"/>
          </a:xfrm>
          <a:prstGeom prst="roundRect">
            <a:avLst>
              <a:gd name="adj" fmla="val 21875"/>
            </a:avLst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12559754" y="7953375"/>
            <a:ext cx="193134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Réinitialiser la vue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9EB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2701528"/>
            <a:ext cx="44005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2B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3234928"/>
            <a:ext cx="4120515" cy="115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462"/>
              </a:lnSpc>
              <a:buNone/>
            </a:pPr>
            <a:r>
              <a:rPr lang="en-US" sz="4200" b="1" spc="-126" kern="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Aside d'information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52500" y="4621709"/>
            <a:ext cx="4120515" cy="12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4"/>
              </a:lnSpc>
              <a:buNone/>
            </a:pPr>
            <a:r>
              <a:rPr lang="en-US" sz="1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Panneau de 420 px ouvert depuis la droite : photo, description, trois métadonnées et deux actions.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52500" y="6076950"/>
            <a:ext cx="28575" cy="1508522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6" name="Text 4"/>
          <p:cNvSpPr/>
          <p:nvPr/>
        </p:nvSpPr>
        <p:spPr>
          <a:xfrm>
            <a:off x="1171575" y="6076950"/>
            <a:ext cx="3901440" cy="1546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8400"/>
              </a:lnSpc>
              <a:buNone/>
            </a:pPr>
            <a:r>
              <a:rPr lang="en-US" sz="16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 → slide-in 320 ms cubic-bezier(.2,.8,.2,1) modèle → translateX −120 px Échap → slide-out 240 ms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486400" y="1714500"/>
            <a:ext cx="10972800" cy="6858000"/>
          </a:xfrm>
          <a:prstGeom prst="roundRect">
            <a:avLst>
              <a:gd name="adj" fmla="val 2222"/>
            </a:avLst>
          </a:prstGeom>
          <a:ln/>
          <a:effectLst>
            <a:outerShdw sx="100000" sy="100000" kx="0" ky="0" algn="bl" rotWithShape="0" blurRad="381000" dist="114300" dir="5400000">
              <a:srgbClr val="0B1F3A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0" y="1714500"/>
            <a:ext cx="10972800" cy="6858000"/>
          </a:xfrm>
          <a:prstGeom prst="rect">
            <a:avLst/>
          </a:prstGeom>
          <a:gradFill rotWithShape="1">
            <a:gsLst>
              <a:gs pos="0">
                <a:srgbClr val="0B1F3A">
                  <a:alpha val="100000"/>
                </a:srgbClr>
              </a:gs>
              <a:gs pos="55000">
                <a:srgbClr val="12305A">
                  <a:alpha val="100000"/>
                </a:srgbClr>
              </a:gs>
              <a:gs pos="100000">
                <a:srgbClr val="0B1F3A">
                  <a:alpha val="100000"/>
                </a:srgbClr>
              </a:gs>
            </a:gsLst>
            <a:lin ang="4200000" scaled="0"/>
          </a:gradFill>
          <a:ln/>
        </p:spPr>
      </p:sp>
      <p:sp>
        <p:nvSpPr>
          <p:cNvPr id="9" name="Text 7"/>
          <p:cNvSpPr/>
          <p:nvPr/>
        </p:nvSpPr>
        <p:spPr>
          <a:xfrm>
            <a:off x="5303520" y="2324100"/>
            <a:ext cx="3185161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20" b="1" spc="115" kern="0" dirty="0">
                <a:solidFill>
                  <a:srgbClr val="E4002B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L'AÉROPORT EN 3D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5303520" y="2613660"/>
            <a:ext cx="2982469" cy="870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000"/>
              </a:lnSpc>
              <a:buNone/>
            </a:pPr>
            <a:r>
              <a:rPr lang="en-US" sz="3120" b="1" spc="-94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Explorez l'aéroport</a:t>
            </a:r>
            <a:endParaRPr lang="en-US" sz="3120" dirty="0"/>
          </a:p>
        </p:txBody>
      </p:sp>
      <p:sp>
        <p:nvSpPr>
          <p:cNvPr id="11" name="Shape 9"/>
          <p:cNvSpPr/>
          <p:nvPr/>
        </p:nvSpPr>
        <p:spPr>
          <a:xfrm>
            <a:off x="8625840" y="2324100"/>
            <a:ext cx="6187440" cy="5638800"/>
          </a:xfrm>
          <a:prstGeom prst="roundRect">
            <a:avLst>
              <a:gd name="adj" fmla="val 2162"/>
            </a:avLst>
          </a:prstGeom>
          <a:solidFill>
            <a:srgbClr val="12294A"/>
          </a:solidFill>
          <a:ln w="762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40877" y="2331720"/>
            <a:ext cx="6357366" cy="5661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660" spc="79" kern="0" dirty="0">
                <a:solidFill>
                  <a:srgbClr val="7E9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RENDU 3D — CAMÉRA RECADRÉE SUR LE POINT 3</a:t>
            </a:r>
            <a:endParaRPr lang="en-US" sz="660" dirty="0"/>
          </a:p>
        </p:txBody>
      </p:sp>
      <p:sp>
        <p:nvSpPr>
          <p:cNvPr id="13" name="Shape 11"/>
          <p:cNvSpPr/>
          <p:nvPr/>
        </p:nvSpPr>
        <p:spPr>
          <a:xfrm>
            <a:off x="10546795" y="4581049"/>
            <a:ext cx="304800" cy="304800"/>
          </a:xfrm>
          <a:prstGeom prst="ellipse">
            <a:avLst/>
          </a:prstGeom>
          <a:solidFill>
            <a:srgbClr val="FFFFFF">
              <a:alpha val="5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508695" y="4581049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1534298" y="5424607"/>
            <a:ext cx="304800" cy="304800"/>
          </a:xfrm>
          <a:prstGeom prst="ellipse">
            <a:avLst/>
          </a:prstGeom>
          <a:solidFill>
            <a:srgbClr val="E4002B"/>
          </a:solidFill>
          <a:ln/>
          <a:effectLst>
            <a:outerShdw sx="100000" sy="100000" kx="0" ky="0" algn="bl" rotWithShape="0" blurRad="101600" dist="50800" dir="16200000">
              <a:srgbClr val="E4002B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1496198" y="5424607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3324284" y="5255895"/>
            <a:ext cx="304800" cy="304800"/>
          </a:xfrm>
          <a:prstGeom prst="ellipse">
            <a:avLst/>
          </a:prstGeom>
          <a:solidFill>
            <a:srgbClr val="FFFFFF">
              <a:alpha val="5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3286184" y="5255895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3258800" y="1714500"/>
            <a:ext cx="3200400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71500" dist="228600" dir="10800000">
              <a:srgbClr val="040C1A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3502641" y="1927860"/>
            <a:ext cx="243839" cy="243840"/>
          </a:xfrm>
          <a:prstGeom prst="ellipse">
            <a:avLst/>
          </a:prstGeom>
          <a:solidFill>
            <a:srgbClr val="E4002B"/>
          </a:solidFill>
          <a:ln/>
        </p:spPr>
      </p:sp>
      <p:sp>
        <p:nvSpPr>
          <p:cNvPr id="21" name="Text 19"/>
          <p:cNvSpPr/>
          <p:nvPr/>
        </p:nvSpPr>
        <p:spPr>
          <a:xfrm>
            <a:off x="13464541" y="1927860"/>
            <a:ext cx="320039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40" dirty="0"/>
          </a:p>
        </p:txBody>
      </p:sp>
      <p:sp>
        <p:nvSpPr>
          <p:cNvPr id="22" name="Text 20"/>
          <p:cNvSpPr/>
          <p:nvPr/>
        </p:nvSpPr>
        <p:spPr>
          <a:xfrm>
            <a:off x="13837920" y="1996440"/>
            <a:ext cx="994529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20" b="1" spc="101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 PUBLIQUE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13502641" y="2293620"/>
            <a:ext cx="1378969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36" kern="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Duty Free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5941040" y="1927860"/>
            <a:ext cx="274320" cy="274320"/>
          </a:xfrm>
          <a:prstGeom prst="ellipse">
            <a:avLst/>
          </a:prstGeom>
          <a:solidFill>
            <a:srgbClr val="F0F2F6"/>
          </a:solidFill>
          <a:ln/>
        </p:spPr>
      </p:sp>
      <p:sp>
        <p:nvSpPr>
          <p:cNvPr id="25" name="Text 23"/>
          <p:cNvSpPr/>
          <p:nvPr/>
        </p:nvSpPr>
        <p:spPr>
          <a:xfrm>
            <a:off x="15902940" y="1927860"/>
            <a:ext cx="35052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13502641" y="2735580"/>
            <a:ext cx="2712719" cy="1676400"/>
          </a:xfrm>
          <a:prstGeom prst="roundRect">
            <a:avLst>
              <a:gd name="adj" fmla="val 6364"/>
            </a:avLst>
          </a:prstGeom>
          <a:solidFill>
            <a:srgbClr val="DDE1E8"/>
          </a:solidFill>
          <a:ln/>
        </p:spPr>
      </p:sp>
      <p:sp>
        <p:nvSpPr>
          <p:cNvPr id="27" name="Text 25"/>
          <p:cNvSpPr/>
          <p:nvPr/>
        </p:nvSpPr>
        <p:spPr>
          <a:xfrm>
            <a:off x="13461950" y="2735580"/>
            <a:ext cx="2794101" cy="171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600" spc="72" kern="0" dirty="0">
                <a:solidFill>
                  <a:srgbClr val="7A84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PHOTO — GALERIE DUTY FREE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13502640" y="4594860"/>
            <a:ext cx="2808732" cy="621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2 400 m² de boutiques après le contrôle de sécurité : horlogerie, parfums, chocolats suisses et spiritueux, aux prix hors taxes.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3502641" y="5391150"/>
            <a:ext cx="843200" cy="609600"/>
          </a:xfrm>
          <a:prstGeom prst="roundRect">
            <a:avLst>
              <a:gd name="adj" fmla="val 15000"/>
            </a:avLst>
          </a:prstGeom>
          <a:solidFill>
            <a:srgbClr val="F7F8FA"/>
          </a:solidFill>
          <a:ln/>
        </p:spPr>
      </p:sp>
      <p:sp>
        <p:nvSpPr>
          <p:cNvPr id="30" name="Text 28"/>
          <p:cNvSpPr/>
          <p:nvPr/>
        </p:nvSpPr>
        <p:spPr>
          <a:xfrm>
            <a:off x="13609320" y="5497830"/>
            <a:ext cx="706041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ÉTAGE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13609320" y="5634990"/>
            <a:ext cx="706041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Niveau 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4437282" y="5391150"/>
            <a:ext cx="843319" cy="609600"/>
          </a:xfrm>
          <a:prstGeom prst="roundRect">
            <a:avLst>
              <a:gd name="adj" fmla="val 15000"/>
            </a:avLst>
          </a:prstGeom>
          <a:solidFill>
            <a:srgbClr val="F7F8FA"/>
          </a:solidFill>
          <a:ln/>
        </p:spPr>
      </p:sp>
      <p:sp>
        <p:nvSpPr>
          <p:cNvPr id="33" name="Text 31"/>
          <p:cNvSpPr/>
          <p:nvPr/>
        </p:nvSpPr>
        <p:spPr>
          <a:xfrm>
            <a:off x="14543961" y="5497830"/>
            <a:ext cx="706159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HORAIRES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14543961" y="5634990"/>
            <a:ext cx="706159" cy="2971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05:00–22:30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5372041" y="5391150"/>
            <a:ext cx="843319" cy="609600"/>
          </a:xfrm>
          <a:prstGeom prst="roundRect">
            <a:avLst>
              <a:gd name="adj" fmla="val 15000"/>
            </a:avLst>
          </a:prstGeom>
          <a:solidFill>
            <a:srgbClr val="F7F8FA"/>
          </a:solidFill>
          <a:ln/>
        </p:spPr>
      </p:sp>
      <p:sp>
        <p:nvSpPr>
          <p:cNvPr id="36" name="Text 34"/>
          <p:cNvSpPr/>
          <p:nvPr/>
        </p:nvSpPr>
        <p:spPr>
          <a:xfrm>
            <a:off x="15478720" y="5497830"/>
            <a:ext cx="706160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ATTENTE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15478720" y="5634990"/>
            <a:ext cx="70616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min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3502641" y="7719060"/>
            <a:ext cx="2712719" cy="381000"/>
          </a:xfrm>
          <a:prstGeom prst="roundRect">
            <a:avLst>
              <a:gd name="adj" fmla="val 24000"/>
            </a:avLst>
          </a:prstGeom>
          <a:solidFill>
            <a:srgbClr val="0B1F3A"/>
          </a:solidFill>
          <a:ln/>
        </p:spPr>
      </p:sp>
      <p:sp>
        <p:nvSpPr>
          <p:cNvPr id="39" name="Text 37"/>
          <p:cNvSpPr/>
          <p:nvPr/>
        </p:nvSpPr>
        <p:spPr>
          <a:xfrm>
            <a:off x="13461950" y="7719060"/>
            <a:ext cx="279410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Voir sur le plan</a:t>
            </a:r>
            <a:endParaRPr lang="en-US" sz="960" dirty="0"/>
          </a:p>
        </p:txBody>
      </p:sp>
      <p:sp>
        <p:nvSpPr>
          <p:cNvPr id="40" name="Text 38"/>
          <p:cNvSpPr/>
          <p:nvPr/>
        </p:nvSpPr>
        <p:spPr>
          <a:xfrm>
            <a:off x="13367005" y="8206740"/>
            <a:ext cx="2983991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40" u="sng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Toutes les boutiques du terminal</a:t>
            </a:r>
            <a:endParaRPr lang="en-US" sz="8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2719685"/>
            <a:ext cx="5448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12" kern="0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VARIANTE MOBILE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333500" y="3281660"/>
            <a:ext cx="544830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11"/>
              </a:lnSpc>
              <a:buNone/>
            </a:pPr>
            <a:r>
              <a:rPr lang="en-US" sz="4800" b="1" spc="-144" kern="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390 px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333500" y="4188321"/>
            <a:ext cx="5101590" cy="2019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4"/>
              </a:lnSpc>
              <a:buNone/>
            </a:pPr>
            <a:r>
              <a:rPr lang="en-US" sz="1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scrub est réduit à 1200 px de scroll. L'aside devient une bottom sheet qui monte jusqu'à 70 % de l'écran. Les tableaux passent en cartes empilées, le footer en accordéons.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1333500" y="6435923"/>
            <a:ext cx="28575" cy="1131391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6" name="Text 4"/>
          <p:cNvSpPr/>
          <p:nvPr/>
        </p:nvSpPr>
        <p:spPr>
          <a:xfrm>
            <a:off x="1552575" y="6435923"/>
            <a:ext cx="4882515" cy="11694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8400"/>
              </a:lnSpc>
              <a:buNone/>
            </a:pPr>
            <a:r>
              <a:rPr lang="en-US" sz="16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tap pastille → sheet 280 ms ease-out drag &gt; 120 px → fermeture 200 ms prefers-reduced-motion → image fixe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8020050" y="1123950"/>
            <a:ext cx="3714750" cy="8039100"/>
          </a:xfrm>
          <a:prstGeom prst="roundRect">
            <a:avLst>
              <a:gd name="adj" fmla="val 5641"/>
            </a:avLst>
          </a:prstGeom>
          <a:solidFill>
            <a:srgbClr val="C9D2DE"/>
          </a:solidFill>
          <a:ln/>
          <a:effectLst>
            <a:outerShdw sx="100000" sy="100000" kx="0" ky="0" algn="bl" rotWithShape="0" blurRad="381000" dist="114300" dir="5400000">
              <a:srgbClr val="0B1F3A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20050" y="1123950"/>
            <a:ext cx="3714750" cy="8039100"/>
          </a:xfrm>
          <a:prstGeom prst="rect">
            <a:avLst/>
          </a:prstGeom>
          <a:gradFill rotWithShape="1">
            <a:gsLst>
              <a:gs pos="0">
                <a:srgbClr val="0B1F3A">
                  <a:alpha val="50000"/>
                </a:srgbClr>
              </a:gs>
              <a:gs pos="38000">
                <a:srgbClr val="0B1F3A">
                  <a:alpha val="10000"/>
                </a:srgbClr>
              </a:gs>
              <a:gs pos="100000">
                <a:srgbClr val="0B1F3A">
                  <a:alpha val="70000"/>
                </a:srgbClr>
              </a:gs>
            </a:gsLst>
            <a:lin ang="5400000" scaled="0"/>
          </a:gradFill>
          <a:ln/>
        </p:spPr>
      </p:sp>
      <p:sp>
        <p:nvSpPr>
          <p:cNvPr id="9" name="Text 7"/>
          <p:cNvSpPr/>
          <p:nvPr/>
        </p:nvSpPr>
        <p:spPr>
          <a:xfrm>
            <a:off x="8210550" y="1352550"/>
            <a:ext cx="103971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GVA </a:t>
            </a:r>
            <a:pPr algn="l" indent="0" marL="0">
              <a:buNone/>
            </a:pPr>
            <a:r>
              <a:rPr lang="en-US" sz="1050" b="1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</a:t>
            </a:r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Genève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272540" y="1357313"/>
            <a:ext cx="34796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 ≡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8210550" y="6587728"/>
            <a:ext cx="366712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4" kern="0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GENÈVE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10550" y="6854428"/>
            <a:ext cx="3433763" cy="9179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00"/>
              </a:lnSpc>
              <a:buNone/>
            </a:pPr>
            <a:r>
              <a:rPr lang="en-US" sz="3300" b="1" spc="-9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Bienvenue à Genève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7834313" y="8324850"/>
            <a:ext cx="408622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11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SCROLLEZ ↓</a:t>
            </a:r>
            <a:endParaRPr lang="en-US" sz="825" dirty="0"/>
          </a:p>
        </p:txBody>
      </p:sp>
      <p:sp>
        <p:nvSpPr>
          <p:cNvPr id="14" name="Shape 12"/>
          <p:cNvSpPr/>
          <p:nvPr/>
        </p:nvSpPr>
        <p:spPr>
          <a:xfrm>
            <a:off x="8210550" y="8753475"/>
            <a:ext cx="3333750" cy="28575"/>
          </a:xfrm>
          <a:prstGeom prst="roundRect">
            <a:avLst>
              <a:gd name="adj" fmla="val 50000"/>
            </a:avLst>
          </a:prstGeom>
          <a:solidFill>
            <a:srgbClr val="FFFFFF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210550" y="8753475"/>
            <a:ext cx="66675" cy="285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12192000" y="1123950"/>
            <a:ext cx="3714750" cy="8039100"/>
          </a:xfrm>
          <a:prstGeom prst="roundRect">
            <a:avLst>
              <a:gd name="adj" fmla="val 5641"/>
            </a:avLst>
          </a:prstGeom>
          <a:gradFill rotWithShape="1">
            <a:gsLst>
              <a:gs pos="0">
                <a:srgbClr val="0B1F3A">
                  <a:alpha val="100000"/>
                </a:srgbClr>
              </a:gs>
              <a:gs pos="100000">
                <a:srgbClr val="12305A">
                  <a:alpha val="100000"/>
                </a:srgbClr>
              </a:gs>
            </a:gsLst>
            <a:lin ang="4200000" scaled="0"/>
          </a:gradFill>
          <a:ln/>
          <a:effectLst>
            <a:outerShdw sx="100000" sy="100000" kx="0" ky="0" algn="bl" rotWithShape="0" blurRad="381000" dist="114300" dir="5400000">
              <a:srgbClr val="0B1F3A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2382500" y="1733550"/>
            <a:ext cx="366712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32" kern="0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L'AÉROPORT EN 3D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12382500" y="1962150"/>
            <a:ext cx="366712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4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Explorez l'aéroport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2382500" y="3028950"/>
            <a:ext cx="3333750" cy="1733550"/>
          </a:xfrm>
          <a:prstGeom prst="roundRect">
            <a:avLst>
              <a:gd name="adj" fmla="val 7692"/>
            </a:avLst>
          </a:prstGeom>
          <a:solidFill>
            <a:srgbClr val="12294A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717786" y="3689896"/>
            <a:ext cx="381000" cy="381000"/>
          </a:xfrm>
          <a:prstGeom prst="ellipse">
            <a:avLst/>
          </a:prstGeom>
          <a:solidFill>
            <a:srgbClr val="E4002B"/>
          </a:solidFill>
          <a:ln/>
          <a:effectLst>
            <a:outerShdw sx="100000" sy="100000" kx="0" ky="0" algn="bl" rotWithShape="0" blurRad="101600" dist="50800" dir="16200000">
              <a:srgbClr val="E4002B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3679686" y="3689896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25" dirty="0"/>
          </a:p>
        </p:txBody>
      </p:sp>
      <p:sp>
        <p:nvSpPr>
          <p:cNvPr id="22" name="Shape 20"/>
          <p:cNvSpPr/>
          <p:nvPr/>
        </p:nvSpPr>
        <p:spPr>
          <a:xfrm>
            <a:off x="12192000" y="3173760"/>
            <a:ext cx="3714750" cy="5989290"/>
          </a:xfrm>
          <a:custGeom>
            <a:avLst/>
            <a:gdLst/>
            <a:ahLst/>
            <a:cxnLst/>
            <a:rect l="l" t="t" r="r" b="b"/>
            <a:pathLst>
              <a:path w="3714750" h="5989290">
                <a:moveTo>
                  <a:pt x="190500" y="0"/>
                </a:moveTo>
                <a:lnTo>
                  <a:pt x="3524250" y="0"/>
                </a:lnTo>
                <a:arcTo hR="190500" wR="190500" stAng="16200000" swAng="5400000"/>
                <a:lnTo>
                  <a:pt x="3714750" y="5989290"/>
                </a:lnTo>
                <a:lnTo>
                  <a:pt x="0" y="5989290"/>
                </a:lnTo>
                <a:lnTo>
                  <a:pt x="0" y="190500"/>
                </a:lnTo>
                <a:arcTo hR="190500" wR="190500" stAng="10800000" swAng="5400000"/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457200" dist="171450" dir="16200000">
              <a:srgbClr val="040C1A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3839825" y="330711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DDE1E8"/>
          </a:solidFill>
          <a:ln/>
        </p:spPr>
      </p:sp>
      <p:sp>
        <p:nvSpPr>
          <p:cNvPr id="24" name="Shape 22"/>
          <p:cNvSpPr/>
          <p:nvPr/>
        </p:nvSpPr>
        <p:spPr>
          <a:xfrm>
            <a:off x="12382500" y="3535710"/>
            <a:ext cx="266700" cy="266700"/>
          </a:xfrm>
          <a:prstGeom prst="ellipse">
            <a:avLst/>
          </a:prstGeom>
          <a:solidFill>
            <a:srgbClr val="E4002B"/>
          </a:solidFill>
          <a:ln/>
        </p:spPr>
      </p:sp>
      <p:sp>
        <p:nvSpPr>
          <p:cNvPr id="25" name="Text 23"/>
          <p:cNvSpPr/>
          <p:nvPr/>
        </p:nvSpPr>
        <p:spPr>
          <a:xfrm>
            <a:off x="12344400" y="3535710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12744450" y="3535710"/>
            <a:ext cx="11306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Duty Free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5411450" y="3516660"/>
            <a:ext cx="304800" cy="304800"/>
          </a:xfrm>
          <a:prstGeom prst="ellipse">
            <a:avLst/>
          </a:prstGeom>
          <a:solidFill>
            <a:srgbClr val="F0F2F6"/>
          </a:solidFill>
          <a:ln/>
        </p:spPr>
      </p:sp>
      <p:sp>
        <p:nvSpPr>
          <p:cNvPr id="28" name="Text 26"/>
          <p:cNvSpPr/>
          <p:nvPr/>
        </p:nvSpPr>
        <p:spPr>
          <a:xfrm>
            <a:off x="15373350" y="3516660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2382500" y="3973860"/>
            <a:ext cx="3333750" cy="1238250"/>
          </a:xfrm>
          <a:prstGeom prst="roundRect">
            <a:avLst>
              <a:gd name="adj" fmla="val 9231"/>
            </a:avLst>
          </a:prstGeom>
          <a:solidFill>
            <a:srgbClr val="DDE1E8"/>
          </a:solidFill>
          <a:ln/>
        </p:spPr>
      </p:sp>
      <p:sp>
        <p:nvSpPr>
          <p:cNvPr id="30" name="Text 28"/>
          <p:cNvSpPr/>
          <p:nvPr/>
        </p:nvSpPr>
        <p:spPr>
          <a:xfrm>
            <a:off x="12332494" y="3973860"/>
            <a:ext cx="3433763" cy="1276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7A84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PHOTO — DUTY FREE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2382500" y="5364510"/>
            <a:ext cx="3433763" cy="47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4375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2 400 m² de boutiques après le contrôle de sécurité : horlogerie, parfums, chocolats suisses.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2382500" y="8458200"/>
            <a:ext cx="3333750" cy="476250"/>
          </a:xfrm>
          <a:prstGeom prst="roundRect">
            <a:avLst>
              <a:gd name="adj" fmla="val 24000"/>
            </a:avLst>
          </a:prstGeom>
          <a:solidFill>
            <a:srgbClr val="0B1F3A"/>
          </a:solidFill>
          <a:ln/>
        </p:spPr>
      </p:sp>
      <p:sp>
        <p:nvSpPr>
          <p:cNvPr id="33" name="Text 31"/>
          <p:cNvSpPr/>
          <p:nvPr/>
        </p:nvSpPr>
        <p:spPr>
          <a:xfrm>
            <a:off x="12332494" y="8458200"/>
            <a:ext cx="3433763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Voir sur le plan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952500"/>
            <a:ext cx="762205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12" kern="0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333500" y="1438275"/>
            <a:ext cx="7622054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spc="-162" kern="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Vos vols en temps réel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4063663" y="1952625"/>
            <a:ext cx="31799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mise à jour auto · 30 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33500" y="2638425"/>
            <a:ext cx="3163044" cy="704850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09700" y="2714625"/>
            <a:ext cx="1448246" cy="552450"/>
          </a:xfrm>
          <a:prstGeom prst="roundRect">
            <a:avLst>
              <a:gd name="adj" fmla="val 18966"/>
            </a:avLst>
          </a:prstGeom>
          <a:solidFill>
            <a:srgbClr val="0B1F3A"/>
          </a:solidFill>
          <a:ln/>
        </p:spPr>
      </p:sp>
      <p:sp>
        <p:nvSpPr>
          <p:cNvPr id="7" name="Text 5"/>
          <p:cNvSpPr/>
          <p:nvPr/>
        </p:nvSpPr>
        <p:spPr>
          <a:xfrm>
            <a:off x="1733550" y="2714625"/>
            <a:ext cx="876746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Départs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57996" y="2714625"/>
            <a:ext cx="914698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Arrivées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563350" y="2667000"/>
            <a:ext cx="5391150" cy="64770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82425" y="2676525"/>
            <a:ext cx="5114734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⌕ Vol, ville ou compagnie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333500" y="3762375"/>
            <a:ext cx="15621000" cy="4657725"/>
          </a:xfrm>
          <a:prstGeom prst="roundRect">
            <a:avLst>
              <a:gd name="adj" fmla="val 3681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43025" y="3771900"/>
            <a:ext cx="15601950" cy="638175"/>
          </a:xfrm>
          <a:prstGeom prst="rect">
            <a:avLst/>
          </a:prstGeom>
          <a:solidFill>
            <a:srgbClr val="F0F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647825" y="3981450"/>
            <a:ext cx="157162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HEURE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76575" y="3981450"/>
            <a:ext cx="727138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DESTINATION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86925" y="3981450"/>
            <a:ext cx="199072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496675" y="3981450"/>
            <a:ext cx="157162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925425" y="3981450"/>
            <a:ext cx="178117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544675" y="3981450"/>
            <a:ext cx="23050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343025" y="4410075"/>
            <a:ext cx="15601950" cy="9525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20" name="Text 18"/>
          <p:cNvSpPr/>
          <p:nvPr/>
        </p:nvSpPr>
        <p:spPr>
          <a:xfrm>
            <a:off x="1647825" y="4667250"/>
            <a:ext cx="15716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06:10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3076575" y="4667250"/>
            <a:ext cx="727138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Londres Heathrow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9686925" y="4667250"/>
            <a:ext cx="19907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LX 348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1496675" y="4667250"/>
            <a:ext cx="15716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B24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2925425" y="4667250"/>
            <a:ext cx="17811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4544675" y="4667250"/>
            <a:ext cx="23050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B7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Embarquement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343025" y="5210175"/>
            <a:ext cx="15601950" cy="9525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27" name="Text 25"/>
          <p:cNvSpPr/>
          <p:nvPr/>
        </p:nvSpPr>
        <p:spPr>
          <a:xfrm>
            <a:off x="1647825" y="5467350"/>
            <a:ext cx="15716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06:35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3076575" y="5467350"/>
            <a:ext cx="727138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Paris Charles-de-Gaulle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9686925" y="5467350"/>
            <a:ext cx="19907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 1243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11496675" y="5467350"/>
            <a:ext cx="15716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A11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2925425" y="5467350"/>
            <a:ext cx="17811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4544675" y="5467350"/>
            <a:ext cx="23050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l'heure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1343025" y="6010275"/>
            <a:ext cx="15601950" cy="9525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34" name="Text 32"/>
          <p:cNvSpPr/>
          <p:nvPr/>
        </p:nvSpPr>
        <p:spPr>
          <a:xfrm>
            <a:off x="1647825" y="6267450"/>
            <a:ext cx="15716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07:05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3076575" y="6267450"/>
            <a:ext cx="727138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Barcelone El Prat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9686925" y="6267450"/>
            <a:ext cx="19907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VY 6621</a:t>
            </a:r>
            <a:endParaRPr lang="en-US" sz="1950" dirty="0"/>
          </a:p>
        </p:txBody>
      </p:sp>
      <p:sp>
        <p:nvSpPr>
          <p:cNvPr id="37" name="Text 35"/>
          <p:cNvSpPr/>
          <p:nvPr/>
        </p:nvSpPr>
        <p:spPr>
          <a:xfrm>
            <a:off x="11496675" y="6267450"/>
            <a:ext cx="15716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C08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12925425" y="6267450"/>
            <a:ext cx="17811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14544675" y="6267450"/>
            <a:ext cx="23050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Retard 25 min</a:t>
            </a:r>
            <a:endParaRPr lang="en-US" sz="1950" dirty="0"/>
          </a:p>
        </p:txBody>
      </p:sp>
      <p:sp>
        <p:nvSpPr>
          <p:cNvPr id="40" name="Shape 38"/>
          <p:cNvSpPr/>
          <p:nvPr/>
        </p:nvSpPr>
        <p:spPr>
          <a:xfrm>
            <a:off x="1343025" y="6810375"/>
            <a:ext cx="15601950" cy="9525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41" name="Text 39"/>
          <p:cNvSpPr/>
          <p:nvPr/>
        </p:nvSpPr>
        <p:spPr>
          <a:xfrm>
            <a:off x="1647825" y="7067550"/>
            <a:ext cx="15716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07:20</a:t>
            </a:r>
            <a:endParaRPr lang="en-US" sz="1950" dirty="0"/>
          </a:p>
        </p:txBody>
      </p:sp>
      <p:sp>
        <p:nvSpPr>
          <p:cNvPr id="42" name="Text 40"/>
          <p:cNvSpPr/>
          <p:nvPr/>
        </p:nvSpPr>
        <p:spPr>
          <a:xfrm>
            <a:off x="3076575" y="7067550"/>
            <a:ext cx="727138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Amsterdam Schiphol</a:t>
            </a:r>
            <a:endParaRPr lang="en-US" sz="1950" dirty="0"/>
          </a:p>
        </p:txBody>
      </p:sp>
      <p:sp>
        <p:nvSpPr>
          <p:cNvPr id="43" name="Text 41"/>
          <p:cNvSpPr/>
          <p:nvPr/>
        </p:nvSpPr>
        <p:spPr>
          <a:xfrm>
            <a:off x="9686925" y="7067550"/>
            <a:ext cx="19907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 1928</a:t>
            </a:r>
            <a:endParaRPr lang="en-US" sz="1950" dirty="0"/>
          </a:p>
        </p:txBody>
      </p:sp>
      <p:sp>
        <p:nvSpPr>
          <p:cNvPr id="44" name="Text 42"/>
          <p:cNvSpPr/>
          <p:nvPr/>
        </p:nvSpPr>
        <p:spPr>
          <a:xfrm>
            <a:off x="11496675" y="7067550"/>
            <a:ext cx="15716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B12</a:t>
            </a:r>
            <a:endParaRPr lang="en-US" sz="1950" dirty="0"/>
          </a:p>
        </p:txBody>
      </p:sp>
      <p:sp>
        <p:nvSpPr>
          <p:cNvPr id="45" name="Text 43"/>
          <p:cNvSpPr/>
          <p:nvPr/>
        </p:nvSpPr>
        <p:spPr>
          <a:xfrm>
            <a:off x="12925425" y="7067550"/>
            <a:ext cx="17811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</a:t>
            </a:r>
            <a:endParaRPr lang="en-US" sz="1950" dirty="0"/>
          </a:p>
        </p:txBody>
      </p:sp>
      <p:sp>
        <p:nvSpPr>
          <p:cNvPr id="46" name="Text 44"/>
          <p:cNvSpPr/>
          <p:nvPr/>
        </p:nvSpPr>
        <p:spPr>
          <a:xfrm>
            <a:off x="14544675" y="7067550"/>
            <a:ext cx="23050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l'heure</a:t>
            </a:r>
            <a:endParaRPr lang="en-US" sz="1950" dirty="0"/>
          </a:p>
        </p:txBody>
      </p:sp>
      <p:sp>
        <p:nvSpPr>
          <p:cNvPr id="47" name="Shape 45"/>
          <p:cNvSpPr/>
          <p:nvPr/>
        </p:nvSpPr>
        <p:spPr>
          <a:xfrm>
            <a:off x="1343025" y="7610475"/>
            <a:ext cx="15601950" cy="9525"/>
          </a:xfrm>
          <a:prstGeom prst="rect">
            <a:avLst/>
          </a:prstGeom>
          <a:solidFill>
            <a:srgbClr val="EDEFF3"/>
          </a:solidFill>
          <a:ln/>
        </p:spPr>
      </p:sp>
      <p:sp>
        <p:nvSpPr>
          <p:cNvPr id="48" name="Text 46"/>
          <p:cNvSpPr/>
          <p:nvPr/>
        </p:nvSpPr>
        <p:spPr>
          <a:xfrm>
            <a:off x="1647825" y="7867650"/>
            <a:ext cx="15716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07:45</a:t>
            </a:r>
            <a:endParaRPr lang="en-US" sz="1950" dirty="0"/>
          </a:p>
        </p:txBody>
      </p:sp>
      <p:sp>
        <p:nvSpPr>
          <p:cNvPr id="49" name="Text 47"/>
          <p:cNvSpPr/>
          <p:nvPr/>
        </p:nvSpPr>
        <p:spPr>
          <a:xfrm>
            <a:off x="3076575" y="7867650"/>
            <a:ext cx="727138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Lisbonne Humberto Delgado</a:t>
            </a:r>
            <a:endParaRPr lang="en-US" sz="1950" dirty="0"/>
          </a:p>
        </p:txBody>
      </p:sp>
      <p:sp>
        <p:nvSpPr>
          <p:cNvPr id="50" name="Text 48"/>
          <p:cNvSpPr/>
          <p:nvPr/>
        </p:nvSpPr>
        <p:spPr>
          <a:xfrm>
            <a:off x="9686925" y="7867650"/>
            <a:ext cx="19907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 933</a:t>
            </a:r>
            <a:endParaRPr lang="en-US" sz="1950" dirty="0"/>
          </a:p>
        </p:txBody>
      </p:sp>
      <p:sp>
        <p:nvSpPr>
          <p:cNvPr id="51" name="Text 49"/>
          <p:cNvSpPr/>
          <p:nvPr/>
        </p:nvSpPr>
        <p:spPr>
          <a:xfrm>
            <a:off x="11496675" y="7867650"/>
            <a:ext cx="15716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D02</a:t>
            </a:r>
            <a:endParaRPr lang="en-US" sz="1950" dirty="0"/>
          </a:p>
        </p:txBody>
      </p:sp>
      <p:sp>
        <p:nvSpPr>
          <p:cNvPr id="52" name="Text 50"/>
          <p:cNvSpPr/>
          <p:nvPr/>
        </p:nvSpPr>
        <p:spPr>
          <a:xfrm>
            <a:off x="12925425" y="7867650"/>
            <a:ext cx="17811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Jetée</a:t>
            </a:r>
            <a:endParaRPr lang="en-US" sz="1950" dirty="0"/>
          </a:p>
        </p:txBody>
      </p:sp>
      <p:sp>
        <p:nvSpPr>
          <p:cNvPr id="53" name="Text 51"/>
          <p:cNvSpPr/>
          <p:nvPr/>
        </p:nvSpPr>
        <p:spPr>
          <a:xfrm>
            <a:off x="14544675" y="7867650"/>
            <a:ext cx="23050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l'heure</a:t>
            </a:r>
            <a:endParaRPr lang="en-US" sz="1950" dirty="0"/>
          </a:p>
        </p:txBody>
      </p:sp>
      <p:sp>
        <p:nvSpPr>
          <p:cNvPr id="54" name="Shape 52"/>
          <p:cNvSpPr/>
          <p:nvPr/>
        </p:nvSpPr>
        <p:spPr>
          <a:xfrm>
            <a:off x="1333500" y="8839200"/>
            <a:ext cx="28575" cy="356146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55" name="Text 53"/>
          <p:cNvSpPr/>
          <p:nvPr/>
        </p:nvSpPr>
        <p:spPr>
          <a:xfrm>
            <a:off x="1571625" y="8839200"/>
            <a:ext cx="15851505" cy="394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9600"/>
              </a:lnSpc>
              <a:buNone/>
            </a:pPr>
            <a:r>
              <a:rPr lang="en-US" sz="16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onglet → cross-fade 180 ms · saisie → debounce 250 ms · ligne modifiée → flash accent 8 % pendant 600 ms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952500"/>
            <a:ext cx="561463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12" kern="0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333500" y="1438275"/>
            <a:ext cx="5614630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spc="-162" kern="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Accès &amp; Parking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60480" y="1628775"/>
            <a:ext cx="549402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minutes depuis la gare Cornavin, sortie directe sur l'A1.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1333500" y="2638425"/>
            <a:ext cx="5003750" cy="3960316"/>
          </a:xfrm>
          <a:prstGeom prst="roundRect">
            <a:avLst>
              <a:gd name="adj" fmla="val 4329"/>
            </a:avLst>
          </a:prstGeom>
          <a:ln w="9525">
            <a:solidFill>
              <a:srgbClr val="DDE1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3025" y="2647950"/>
            <a:ext cx="4984700" cy="2095500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7" name="Text 5"/>
          <p:cNvSpPr/>
          <p:nvPr/>
        </p:nvSpPr>
        <p:spPr>
          <a:xfrm>
            <a:off x="1268254" y="2647950"/>
            <a:ext cx="5134241" cy="2133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A84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PHOTO — QUAI CFF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66875" y="5048250"/>
            <a:ext cx="47707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train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666875" y="5553075"/>
            <a:ext cx="4467110" cy="769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143"/>
              </a:lnSpc>
              <a:buNone/>
            </a:pPr>
            <a:r>
              <a:rPr lang="en-US" sz="18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Gare CFF sous le terminal. 6 min jusqu'à Cornavin, 4 trains par heure.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642050" y="2638425"/>
            <a:ext cx="5003750" cy="3960316"/>
          </a:xfrm>
          <a:prstGeom prst="roundRect">
            <a:avLst>
              <a:gd name="adj" fmla="val 4329"/>
            </a:avLst>
          </a:prstGeom>
          <a:ln w="9525">
            <a:solidFill>
              <a:srgbClr val="DDE1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51575" y="2647950"/>
            <a:ext cx="4984700" cy="2095500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12" name="Text 10"/>
          <p:cNvSpPr/>
          <p:nvPr/>
        </p:nvSpPr>
        <p:spPr>
          <a:xfrm>
            <a:off x="6576805" y="2647950"/>
            <a:ext cx="5134241" cy="2133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A84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PHOTO — DÉPOSE-MINUTE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75425" y="5048250"/>
            <a:ext cx="47707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voiture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6975425" y="5553075"/>
            <a:ext cx="4467110" cy="769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143"/>
              </a:lnSpc>
              <a:buNone/>
            </a:pPr>
            <a:r>
              <a:rPr lang="en-US" sz="18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Sortie 1 de l'A1, dépose-minute devant les départs, 10 min offertes.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1950601" y="2638425"/>
            <a:ext cx="5003750" cy="3960316"/>
          </a:xfrm>
          <a:prstGeom prst="roundRect">
            <a:avLst>
              <a:gd name="adj" fmla="val 4329"/>
            </a:avLst>
          </a:prstGeom>
          <a:ln w="9525">
            <a:solidFill>
              <a:srgbClr val="DDE1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960126" y="2647950"/>
            <a:ext cx="4984700" cy="2095500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5355" y="2647950"/>
            <a:ext cx="5134241" cy="2133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A84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PHOTO — ARRÊT DE BUS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283976" y="5048250"/>
            <a:ext cx="47707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bus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2283976" y="5553075"/>
            <a:ext cx="4467110" cy="769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143"/>
              </a:lnSpc>
              <a:buNone/>
            </a:pPr>
            <a:r>
              <a:rPr lang="en-US" sz="18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Lignes 5, 10, 23, 28 et Noctambus, à 2 minutes du hall d'arrivée.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333500" y="7017841"/>
            <a:ext cx="15621000" cy="1447800"/>
          </a:xfrm>
          <a:prstGeom prst="roundRect">
            <a:avLst>
              <a:gd name="adj" fmla="val 11842"/>
            </a:avLst>
          </a:prstGeom>
          <a:solidFill>
            <a:srgbClr val="F7F8FA"/>
          </a:solidFill>
          <a:ln/>
        </p:spPr>
      </p:sp>
      <p:sp>
        <p:nvSpPr>
          <p:cNvPr id="21" name="Text 19"/>
          <p:cNvSpPr/>
          <p:nvPr/>
        </p:nvSpPr>
        <p:spPr>
          <a:xfrm>
            <a:off x="1790700" y="7565529"/>
            <a:ext cx="29337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Tarifs parking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991100" y="7398841"/>
            <a:ext cx="234303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 COURT TERME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991100" y="7713166"/>
            <a:ext cx="234303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CHF 5.—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7387828" y="7398841"/>
            <a:ext cx="234303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P26 LONGUE DURÉE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387828" y="7713166"/>
            <a:ext cx="234303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CHF 24.—</a:t>
            </a:r>
            <a:endParaRPr lang="en-US" sz="2550" dirty="0"/>
          </a:p>
        </p:txBody>
      </p:sp>
      <p:sp>
        <p:nvSpPr>
          <p:cNvPr id="26" name="Text 24"/>
          <p:cNvSpPr/>
          <p:nvPr/>
        </p:nvSpPr>
        <p:spPr>
          <a:xfrm>
            <a:off x="9784556" y="7398841"/>
            <a:ext cx="234303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P51 ÉCONOMIQUE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784556" y="7713166"/>
            <a:ext cx="234303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CHF 16.—</a:t>
            </a:r>
            <a:endParaRPr lang="en-US" sz="2550" dirty="0"/>
          </a:p>
        </p:txBody>
      </p:sp>
      <p:sp>
        <p:nvSpPr>
          <p:cNvPr id="28" name="Text 26"/>
          <p:cNvSpPr/>
          <p:nvPr/>
        </p:nvSpPr>
        <p:spPr>
          <a:xfrm>
            <a:off x="12181284" y="7398841"/>
            <a:ext cx="234319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DÉPOSE-MINUTE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2181284" y="7713166"/>
            <a:ext cx="234319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2550" dirty="0"/>
          </a:p>
        </p:txBody>
      </p:sp>
      <p:sp>
        <p:nvSpPr>
          <p:cNvPr id="30" name="Shape 28"/>
          <p:cNvSpPr/>
          <p:nvPr/>
        </p:nvSpPr>
        <p:spPr>
          <a:xfrm>
            <a:off x="14844861" y="7427416"/>
            <a:ext cx="1652439" cy="628650"/>
          </a:xfrm>
          <a:prstGeom prst="roundRect">
            <a:avLst>
              <a:gd name="adj" fmla="val 21212"/>
            </a:avLst>
          </a:prstGeom>
          <a:solidFill>
            <a:srgbClr val="0B1F3A"/>
          </a:solidFill>
          <a:ln/>
        </p:spPr>
      </p:sp>
      <p:sp>
        <p:nvSpPr>
          <p:cNvPr id="31" name="Text 29"/>
          <p:cNvSpPr/>
          <p:nvPr/>
        </p:nvSpPr>
        <p:spPr>
          <a:xfrm>
            <a:off x="15168711" y="7427416"/>
            <a:ext cx="1080939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Réserver</a:t>
            </a:r>
            <a:endParaRPr lang="en-US" sz="1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952500"/>
            <a:ext cx="824039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12" kern="0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5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333500" y="1438275"/>
            <a:ext cx="8240390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spc="-162" kern="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Boutiques &amp; restaurants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5563850" y="1590675"/>
            <a:ext cx="628650" cy="6286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535275" y="160020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9A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16344900" y="1590675"/>
            <a:ext cx="609600" cy="6096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7" name="Text 5"/>
          <p:cNvSpPr/>
          <p:nvPr/>
        </p:nvSpPr>
        <p:spPr>
          <a:xfrm>
            <a:off x="16306800" y="1590675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333500" y="2638425"/>
            <a:ext cx="3676650" cy="4200525"/>
          </a:xfrm>
          <a:prstGeom prst="roundRect">
            <a:avLst>
              <a:gd name="adj" fmla="val 4663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43025" y="2647950"/>
            <a:ext cx="3657600" cy="2667000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10" name="Text 8"/>
          <p:cNvSpPr/>
          <p:nvPr/>
        </p:nvSpPr>
        <p:spPr>
          <a:xfrm>
            <a:off x="1288161" y="2647950"/>
            <a:ext cx="3767328" cy="270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A84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PHOTO — HORLOGERIE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28775" y="5581650"/>
            <a:ext cx="339471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NIVEAU 2 · AIRSIDE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28775" y="5915025"/>
            <a:ext cx="339471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Horlogerie suisse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628775" y="6315075"/>
            <a:ext cx="339471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05:30 – 22:00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5314950" y="2638425"/>
            <a:ext cx="3676650" cy="4200525"/>
          </a:xfrm>
          <a:prstGeom prst="roundRect">
            <a:avLst>
              <a:gd name="adj" fmla="val 4663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24475" y="2647950"/>
            <a:ext cx="3657600" cy="2667000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16" name="Text 14"/>
          <p:cNvSpPr/>
          <p:nvPr/>
        </p:nvSpPr>
        <p:spPr>
          <a:xfrm>
            <a:off x="5269611" y="2647950"/>
            <a:ext cx="3767328" cy="270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A84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PHOTO — CAFÉ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610225" y="5581650"/>
            <a:ext cx="339471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NIVEAU 1 · PUBLIC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610225" y="5915025"/>
            <a:ext cx="339471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Café du Léman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5610225" y="6315075"/>
            <a:ext cx="339471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04:45 – 23:00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9296400" y="2638425"/>
            <a:ext cx="3676650" cy="4200525"/>
          </a:xfrm>
          <a:prstGeom prst="roundRect">
            <a:avLst>
              <a:gd name="adj" fmla="val 4663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05925" y="2647950"/>
            <a:ext cx="3657600" cy="2667000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22" name="Text 20"/>
          <p:cNvSpPr/>
          <p:nvPr/>
        </p:nvSpPr>
        <p:spPr>
          <a:xfrm>
            <a:off x="9251061" y="2647950"/>
            <a:ext cx="3767328" cy="270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A84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PHOTO — CHOCOLAT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591675" y="5581650"/>
            <a:ext cx="339471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NIVEAU 2 · AIRSIDE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591675" y="5915025"/>
            <a:ext cx="339471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Chocolats &amp; épicerie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9591675" y="6315075"/>
            <a:ext cx="339471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05:00 – 22:30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3277850" y="2638425"/>
            <a:ext cx="3676650" cy="4200525"/>
          </a:xfrm>
          <a:prstGeom prst="roundRect">
            <a:avLst>
              <a:gd name="adj" fmla="val 4663"/>
            </a:avLst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287375" y="2647950"/>
            <a:ext cx="3657600" cy="2667000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28" name="Text 26"/>
          <p:cNvSpPr/>
          <p:nvPr/>
        </p:nvSpPr>
        <p:spPr>
          <a:xfrm>
            <a:off x="13232511" y="2647950"/>
            <a:ext cx="3767328" cy="270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7A84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PHOTO — BRASSERIE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3573125" y="5581650"/>
            <a:ext cx="339471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JETÉE · AIRSIDE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3573125" y="5915025"/>
            <a:ext cx="339471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Brasserie 1919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13573125" y="6315075"/>
            <a:ext cx="339471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06:00 – 21:30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333500" y="7258050"/>
            <a:ext cx="28575" cy="356146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33" name="Text 31"/>
          <p:cNvSpPr/>
          <p:nvPr/>
        </p:nvSpPr>
        <p:spPr>
          <a:xfrm>
            <a:off x="1571625" y="7258050"/>
            <a:ext cx="15851505" cy="394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9600"/>
              </a:lnSpc>
              <a:buNone/>
            </a:pPr>
            <a:r>
              <a:rPr lang="en-US" sz="16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flèche ou swipe → translateX d'un pas de carte, 380 ms cubic-bezier(.4,0,.2,1)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952500"/>
            <a:ext cx="17183100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spc="-16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Footer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333500" y="2266950"/>
            <a:ext cx="54483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GVA </a:t>
            </a:r>
            <a:pPr algn="l" indent="0" marL="0">
              <a:buNone/>
            </a:pPr>
            <a:r>
              <a:rPr lang="en-US" sz="2400" b="1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</a:t>
            </a:r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Genève Aéroport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33500" y="2867025"/>
            <a:ext cx="5101590" cy="769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143"/>
              </a:lnSpc>
              <a:buNone/>
            </a:pPr>
            <a:r>
              <a:rPr lang="en-US" sz="1800" dirty="0">
                <a:solidFill>
                  <a:srgbClr val="A9BB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Restez informé des travaux, nouveautés et destinations saisonnières.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33500" y="3846016"/>
            <a:ext cx="3315295" cy="647700"/>
          </a:xfrm>
          <a:prstGeom prst="roundRect">
            <a:avLst>
              <a:gd name="adj" fmla="val 20588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2575" y="3855541"/>
            <a:ext cx="2976604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votre@email.ch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782145" y="3846016"/>
            <a:ext cx="1504355" cy="628650"/>
          </a:xfrm>
          <a:prstGeom prst="roundRect">
            <a:avLst>
              <a:gd name="adj" fmla="val 21212"/>
            </a:avLst>
          </a:prstGeom>
          <a:solidFill>
            <a:srgbClr val="E4002B"/>
          </a:solidFill>
          <a:ln/>
        </p:spPr>
      </p:sp>
      <p:sp>
        <p:nvSpPr>
          <p:cNvPr id="8" name="Text 6"/>
          <p:cNvSpPr/>
          <p:nvPr/>
        </p:nvSpPr>
        <p:spPr>
          <a:xfrm>
            <a:off x="5067895" y="3846016"/>
            <a:ext cx="100905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S'inscrire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33500" y="4741366"/>
            <a:ext cx="552450" cy="552450"/>
          </a:xfrm>
          <a:prstGeom prst="roundRect">
            <a:avLst>
              <a:gd name="adj" fmla="val 24138"/>
            </a:avLst>
          </a:prstGeom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04925" y="4750891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019300" y="4741366"/>
            <a:ext cx="552450" cy="552450"/>
          </a:xfrm>
          <a:prstGeom prst="roundRect">
            <a:avLst>
              <a:gd name="adj" fmla="val 24138"/>
            </a:avLst>
          </a:prstGeom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90725" y="4750891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FB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705100" y="4741366"/>
            <a:ext cx="552450" cy="552450"/>
          </a:xfrm>
          <a:prstGeom prst="roundRect">
            <a:avLst>
              <a:gd name="adj" fmla="val 24138"/>
            </a:avLst>
          </a:prstGeom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76525" y="4750891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390900" y="4741366"/>
            <a:ext cx="552450" cy="552450"/>
          </a:xfrm>
          <a:prstGeom prst="roundRect">
            <a:avLst>
              <a:gd name="adj" fmla="val 24138"/>
            </a:avLst>
          </a:prstGeom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62325" y="4750891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972300" y="2266950"/>
            <a:ext cx="249364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3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VOYAGER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6972300" y="2686050"/>
            <a:ext cx="24936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9BB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Départs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72300" y="3124200"/>
            <a:ext cx="24936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9BB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Arrivées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72300" y="3562350"/>
            <a:ext cx="24936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9BB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Bagages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72300" y="4000500"/>
            <a:ext cx="24936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9BB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Sûreté &amp; douane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72300" y="4438650"/>
            <a:ext cx="24936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9BB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Assistance PMR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544050" y="2266950"/>
            <a:ext cx="249364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3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L'AÉROPORT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9544050" y="2686050"/>
            <a:ext cx="24936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9BB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du terminal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544050" y="3124200"/>
            <a:ext cx="24936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9BB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Boutiques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544050" y="3562350"/>
            <a:ext cx="24936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9BB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544050" y="4000500"/>
            <a:ext cx="24936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9BB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Salons VIP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544050" y="4438650"/>
            <a:ext cx="24936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9BB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Objets trouvés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2115800" y="2266950"/>
            <a:ext cx="249364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3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ACCÈS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2115800" y="2686050"/>
            <a:ext cx="24936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9BB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&amp; bus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2115800" y="3124200"/>
            <a:ext cx="24936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9BB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Parkings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115800" y="3562350"/>
            <a:ext cx="24936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9BB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de voitures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2115800" y="4000500"/>
            <a:ext cx="24936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9BB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Taxis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2115800" y="4438650"/>
            <a:ext cx="24936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9BB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Recharge électrique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4687550" y="2266950"/>
            <a:ext cx="249364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3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L'ENTREPRISE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14687550" y="2686050"/>
            <a:ext cx="24936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9BB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 sommes-nous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4687550" y="3124200"/>
            <a:ext cx="24936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9BB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Emplois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4687550" y="3562350"/>
            <a:ext cx="24936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9BB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Environnement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4687550" y="4000500"/>
            <a:ext cx="24936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9BB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Presse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4687550" y="4438650"/>
            <a:ext cx="24936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9BB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333500" y="5827216"/>
            <a:ext cx="156210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1333500" y="6141541"/>
            <a:ext cx="255356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Genève Aéroport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10241161" y="6141541"/>
            <a:ext cx="172993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Mentions légales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12156728" y="6141541"/>
            <a:ext cx="242210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Protection des données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14701540" y="6141541"/>
            <a:ext cx="83328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Cookies</a:t>
            </a:r>
            <a:endParaRPr lang="en-US" sz="1650" dirty="0"/>
          </a:p>
        </p:txBody>
      </p:sp>
      <p:sp>
        <p:nvSpPr>
          <p:cNvPr id="46" name="Text 44"/>
          <p:cNvSpPr/>
          <p:nvPr/>
        </p:nvSpPr>
        <p:spPr>
          <a:xfrm>
            <a:off x="15801529" y="6141541"/>
            <a:ext cx="122917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Accessibilité</a:t>
            </a:r>
            <a:endParaRPr lang="en-US" sz="1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4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1143000"/>
            <a:ext cx="171831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1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LIVRABLES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333500" y="3909120"/>
            <a:ext cx="81724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6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Fourni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333500" y="4613970"/>
            <a:ext cx="7652385" cy="1744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frames numérotées, desktop 1440 et mobile 390 Design system : couleurs, typo, boutons, pastilles, champs Annotations d'interaction par section Frame de spécification du scrub vidéo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525000" y="3909120"/>
            <a:ext cx="81724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6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produire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0" y="4613970"/>
            <a:ext cx="7652385" cy="1744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Photographies du terminal, des pistes et des commerces Vidéo du hero, encodée pour le scrub Rendu 3D isométrique low-poly du site Contenus définitifs des vols et tarifs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33500" y="8791575"/>
            <a:ext cx="171831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GVA — Genève Aéroport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2026-08-26T11:31:41Z</dcterms:created>
  <dcterms:modified xsi:type="dcterms:W3CDTF">2026-08-26T11:31:41Z</dcterms:modified>
</cp:coreProperties>
</file>